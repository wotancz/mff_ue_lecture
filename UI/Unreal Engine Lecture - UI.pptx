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6" r:id="rId9"/>
    <p:sldId id="264" r:id="rId10"/>
    <p:sldId id="267" r:id="rId11"/>
    <p:sldId id="268" r:id="rId12"/>
    <p:sldId id="265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Janak" initials="DJ" lastIdx="2" clrIdx="0">
    <p:extLst>
      <p:ext uri="{19B8F6BF-5375-455C-9EA6-DF929625EA0E}">
        <p15:presenceInfo xmlns:p15="http://schemas.microsoft.com/office/powerpoint/2012/main" userId="S::djanak_a@virtuosgames.com::c433d9f9-364a-4ce6-8ac2-e546a8f4372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82"/>
  </p:normalViewPr>
  <p:slideViewPr>
    <p:cSldViewPr snapToGrid="0">
      <p:cViewPr varScale="1">
        <p:scale>
          <a:sx n="148" d="100"/>
          <a:sy n="148" d="100"/>
        </p:scale>
        <p:origin x="52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7b3fe96102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7b3fe96102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7b3fe9610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7b3fe96102_1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5809dcb5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a5809dcb5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5809dcb51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a5809dcb51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5809dcb5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a5809dcb5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a5809dcb5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a5809dcb5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a5809dcb5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a5809dcb5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5809dcb5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a5809dcb51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a5809dcb5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a5809dcb5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0" y="25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5069250" y="724200"/>
            <a:ext cx="37074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40" name="Google Shape;40;p9"/>
          <p:cNvPicPr preferRelativeResize="0"/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5069250" y="724200"/>
            <a:ext cx="3695101" cy="369510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 txBox="1">
            <a:spLocks noGrp="1"/>
          </p:cNvSpPr>
          <p:nvPr>
            <p:ph type="subTitle" idx="2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3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epicgames.com/documentation/en-us/unreal-engine/overview-of-advanced-multiplatform-user-interfaces-with-common-ui-for-unreal-engine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dev.epicgames.com/documentation/en-us/unreal-engine/optimization-guidelines-for-umg-in-unreal-engin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aHlhkmVDoI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TTB5y-03SnE" TargetMode="External"/><Relationship Id="rId5" Type="http://schemas.openxmlformats.org/officeDocument/2006/relationships/hyperlink" Target="https://docs.unrealengine.com/5.0/en-US/overview-of-advanced-multiplatform-user-interfaces-with-common-ui-for-unreal-engine/" TargetMode="External"/><Relationship Id="rId4" Type="http://schemas.openxmlformats.org/officeDocument/2006/relationships/hyperlink" Target="https://docs.unrealengine.com/5.2/en-US/optimization-guidelines-for-umg-in-unreal-engin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UI Part 1</a:t>
            </a:r>
            <a:endParaRPr dirty="0"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2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Daniel Janák</a:t>
            </a:r>
            <a:endParaRPr dirty="0"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1"/>
          </p:nvPr>
        </p:nvSpPr>
        <p:spPr>
          <a:xfrm>
            <a:off x="5069250" y="724200"/>
            <a:ext cx="37074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 of this lecture</a:t>
            </a:r>
            <a:endParaRPr dirty="0"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1368950"/>
            <a:ext cx="4260300" cy="34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Core content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UMG, </a:t>
            </a:r>
            <a:r>
              <a:rPr lang="en" sz="1800" dirty="0" err="1"/>
              <a:t>CommonUI</a:t>
            </a:r>
            <a:r>
              <a:rPr lang="en" sz="1800" dirty="0"/>
              <a:t> &amp; Designer</a:t>
            </a: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Focus</a:t>
            </a:r>
            <a:endParaRPr sz="1800" dirty="0"/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 err="1"/>
              <a:t>ActivatableWidgets</a:t>
            </a: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Layers</a:t>
            </a: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UI Management</a:t>
            </a:r>
            <a:br>
              <a:rPr lang="en" sz="1800" dirty="0"/>
            </a:br>
            <a:r>
              <a:rPr lang="en" sz="1800" dirty="0"/>
              <a:t>Input Routing in </a:t>
            </a:r>
            <a:r>
              <a:rPr lang="en" sz="1800" dirty="0" err="1"/>
              <a:t>CommonUI</a:t>
            </a:r>
            <a:br>
              <a:rPr lang="en" sz="1800" dirty="0"/>
            </a:b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Additional Resources</a:t>
            </a:r>
            <a:endParaRPr sz="1800" dirty="0"/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4572000" y="1368950"/>
            <a:ext cx="4260300" cy="34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800" dirty="0" err="1"/>
              <a:t>Next</a:t>
            </a:r>
            <a:r>
              <a:rPr lang="sk-SK" sz="1800" dirty="0"/>
              <a:t> </a:t>
            </a:r>
            <a:r>
              <a:rPr lang="sk-SK" sz="1800" dirty="0" err="1"/>
              <a:t>time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sk-SK" sz="1800" dirty="0" err="1"/>
              <a:t>Advanced</a:t>
            </a:r>
            <a:r>
              <a:rPr lang="sk-SK" sz="1800" dirty="0"/>
              <a:t> </a:t>
            </a:r>
            <a:r>
              <a:rPr lang="sk-SK" sz="1800" dirty="0" err="1"/>
              <a:t>Lists</a:t>
            </a:r>
            <a:br>
              <a:rPr lang="sk-SK" sz="1800" dirty="0"/>
            </a:br>
            <a:r>
              <a:rPr lang="sk-SK" sz="1800" dirty="0" err="1"/>
              <a:t>Data</a:t>
            </a:r>
            <a:r>
              <a:rPr lang="sk-SK" sz="1800" dirty="0"/>
              <a:t> </a:t>
            </a:r>
            <a:r>
              <a:rPr lang="sk-SK" sz="1800" dirty="0" err="1"/>
              <a:t>Driven</a:t>
            </a:r>
            <a:r>
              <a:rPr lang="sk-SK" sz="1800" dirty="0"/>
              <a:t> UI</a:t>
            </a:r>
            <a:br>
              <a:rPr lang="sk-SK" sz="1800" dirty="0"/>
            </a:br>
            <a:r>
              <a:rPr lang="sk-SK" sz="1800" dirty="0"/>
              <a:t>UI </a:t>
            </a:r>
            <a:r>
              <a:rPr lang="sk-SK" sz="1800" dirty="0" err="1"/>
              <a:t>Materials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UMG &amp; Designer</a:t>
            </a:r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1187825"/>
            <a:ext cx="8520600" cy="1210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000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sz="1800" dirty="0"/>
              <a:t>Unreal Motion Graphics</a:t>
            </a:r>
          </a:p>
          <a:p>
            <a:pPr marL="4000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hlinkClick r:id="rId3"/>
              </a:rPr>
              <a:t>CommonUI</a:t>
            </a:r>
            <a:br>
              <a:rPr lang="en-US" sz="1800" dirty="0"/>
            </a:br>
            <a:r>
              <a:rPr lang="en-US" sz="1800" dirty="0">
                <a:hlinkClick r:id="rId4"/>
              </a:rPr>
              <a:t>Optimization Guidelines</a:t>
            </a:r>
            <a:endParaRPr lang="en-US" sz="1800" dirty="0"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687" y="2476926"/>
            <a:ext cx="2315226" cy="255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2823" y="2472785"/>
            <a:ext cx="2602517" cy="2486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49210" y="2462712"/>
            <a:ext cx="2315227" cy="258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7562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Focus</a:t>
            </a:r>
            <a:endParaRPr dirty="0"/>
          </a:p>
        </p:txBody>
      </p:sp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1368950"/>
            <a:ext cx="3431100" cy="15208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Core mechanism behind UI navigation</a:t>
            </a: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Only one widget at a time</a:t>
            </a: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Focus vs Hover</a:t>
            </a:r>
            <a:endParaRPr sz="1800" dirty="0"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07" y="2961211"/>
            <a:ext cx="3426393" cy="2016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5B1B89-E290-5DFD-1179-12D41033A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328" y="445024"/>
            <a:ext cx="4549679" cy="4533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388611" cy="1150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CommonUI</a:t>
            </a:r>
            <a:r>
              <a:rPr lang="en" dirty="0"/>
              <a:t> </a:t>
            </a:r>
            <a:br>
              <a:rPr lang="en" dirty="0"/>
            </a:br>
            <a:r>
              <a:rPr lang="en" dirty="0"/>
              <a:t>– Activatable Widgets</a:t>
            </a:r>
            <a:endParaRPr dirty="0"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1" y="1656272"/>
            <a:ext cx="4130904" cy="32952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sk-SK" sz="1800" dirty="0" err="1"/>
              <a:t>Activatable</a:t>
            </a:r>
            <a:r>
              <a:rPr lang="sk-SK" sz="1800" dirty="0"/>
              <a:t> </a:t>
            </a:r>
            <a:r>
              <a:rPr lang="sk-SK" sz="1800" dirty="0" err="1"/>
              <a:t>Widgets</a:t>
            </a:r>
            <a:br>
              <a:rPr lang="sk-SK" sz="1800" dirty="0"/>
            </a:br>
            <a:r>
              <a:rPr lang="sk-SK" sz="1800" dirty="0"/>
              <a:t> - </a:t>
            </a:r>
            <a:r>
              <a:rPr lang="sk-SK" sz="1800" dirty="0" err="1"/>
              <a:t>Manages</a:t>
            </a:r>
            <a:r>
              <a:rPr lang="sk-SK" sz="1800" dirty="0"/>
              <a:t> </a:t>
            </a:r>
            <a:r>
              <a:rPr lang="sk-SK" sz="1800" dirty="0" err="1"/>
              <a:t>lifetimes</a:t>
            </a:r>
            <a:br>
              <a:rPr lang="sk-SK" sz="1800" dirty="0"/>
            </a:br>
            <a:r>
              <a:rPr lang="sk-SK" sz="1800" dirty="0"/>
              <a:t> - </a:t>
            </a:r>
            <a:r>
              <a:rPr lang="sk-SK" sz="1800" dirty="0" err="1"/>
              <a:t>Used</a:t>
            </a:r>
            <a:r>
              <a:rPr lang="sk-SK" sz="1800" dirty="0"/>
              <a:t> by </a:t>
            </a:r>
            <a:r>
              <a:rPr lang="sk-SK" sz="1800" dirty="0" err="1"/>
              <a:t>Stack</a:t>
            </a:r>
            <a:r>
              <a:rPr lang="sk-SK" sz="1800" dirty="0"/>
              <a:t> and </a:t>
            </a:r>
            <a:r>
              <a:rPr lang="sk-SK" sz="1800" dirty="0" err="1"/>
              <a:t>Queue</a:t>
            </a:r>
            <a:r>
              <a:rPr lang="sk-SK" sz="1800" dirty="0"/>
              <a:t> </a:t>
            </a:r>
            <a:r>
              <a:rPr lang="sk-SK" sz="1800" dirty="0" err="1"/>
              <a:t>panels</a:t>
            </a:r>
            <a:br>
              <a:rPr lang="sk-SK" sz="1800" dirty="0"/>
            </a:b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Input Routing</a:t>
            </a:r>
            <a:br>
              <a:rPr lang="en" sz="1800" dirty="0"/>
            </a:br>
            <a:r>
              <a:rPr lang="en" sz="1800" dirty="0"/>
              <a:t> - Tree of Activatable Widgets</a:t>
            </a:r>
            <a:br>
              <a:rPr lang="en" sz="1800" dirty="0"/>
            </a:br>
            <a:r>
              <a:rPr lang="en" sz="1800" dirty="0"/>
              <a:t> - Detects top most AW and processes input in t</a:t>
            </a:r>
            <a:r>
              <a:rPr lang="en-US" sz="1800" dirty="0"/>
              <a:t>he branch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Input Modes</a:t>
            </a:r>
            <a:br>
              <a:rPr lang="en-US" sz="1800" dirty="0"/>
            </a:br>
            <a:r>
              <a:rPr lang="en-US" sz="1800" dirty="0"/>
              <a:t>- Config for Gameplay, Menu, All</a:t>
            </a:r>
            <a:br>
              <a:rPr lang="en-US" sz="1800" dirty="0"/>
            </a:br>
            <a:r>
              <a:rPr lang="en-US" sz="1800" dirty="0"/>
              <a:t>- Pointer Capture</a:t>
            </a:r>
            <a:endParaRPr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185BDF-6A4A-073C-A156-27742AB85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445025"/>
            <a:ext cx="4388611" cy="42441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90728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Menus</a:t>
            </a:r>
            <a:br>
              <a:rPr lang="en" dirty="0"/>
            </a:b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1368950"/>
            <a:ext cx="4651800" cy="34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Partition to standalone Menus and Submenus</a:t>
            </a:r>
            <a:br>
              <a:rPr lang="en" sz="1800" dirty="0"/>
            </a:br>
            <a:br>
              <a:rPr lang="en" sz="1800" dirty="0"/>
            </a:br>
            <a:r>
              <a:rPr lang="en" sz="1800" dirty="0"/>
              <a:t>Event Based, usually no direct access to other Menus</a:t>
            </a:r>
            <a:br>
              <a:rPr lang="en" sz="1800" dirty="0"/>
            </a:br>
            <a:br>
              <a:rPr lang="sk-SK" sz="1800" dirty="0"/>
            </a:br>
            <a:r>
              <a:rPr lang="en-US" sz="1800" dirty="0"/>
              <a:t>Use of Submenus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Clean-up on deactivation when switching</a:t>
            </a:r>
            <a:br>
              <a:rPr lang="en-US" sz="1800" dirty="0"/>
            </a:br>
            <a:endParaRPr sz="1800" dirty="0"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1674" y="446051"/>
            <a:ext cx="3540626" cy="4251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Layers</a:t>
            </a:r>
            <a:endParaRPr dirty="0"/>
          </a:p>
        </p:txBody>
      </p:sp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311700" y="1368950"/>
            <a:ext cx="4082100" cy="34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Grouping of Menus </a:t>
            </a:r>
            <a:br>
              <a:rPr lang="en" sz="1800" dirty="0"/>
            </a:br>
            <a:r>
              <a:rPr lang="en" sz="1800" dirty="0"/>
              <a:t>- usually by Stacks and Queues</a:t>
            </a:r>
            <a:endParaRPr sz="1800" dirty="0"/>
          </a:p>
          <a:p>
            <a:pPr marL="114300" lvl="0">
              <a:buSzPts val="1800"/>
            </a:pPr>
            <a:br>
              <a:rPr lang="en" sz="1800" dirty="0"/>
            </a:br>
            <a:r>
              <a:rPr lang="en" sz="1800" dirty="0"/>
              <a:t>Use of Layer Widget </a:t>
            </a:r>
            <a:br>
              <a:rPr lang="en" sz="1800" dirty="0"/>
            </a:br>
            <a:r>
              <a:rPr lang="en" sz="1800" dirty="0"/>
              <a:t>- Rendering order</a:t>
            </a:r>
            <a:endParaRPr sz="1800" dirty="0"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275" y="749713"/>
            <a:ext cx="3644074" cy="364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78704-29C2-7AF4-696C-D9DF50EA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47175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Input Routing</a:t>
            </a:r>
          </a:p>
        </p:txBody>
      </p:sp>
      <p:pic>
        <p:nvPicPr>
          <p:cNvPr id="1026" name="Picture 2" descr="Flowchart showing input routing logic.">
            <a:extLst>
              <a:ext uri="{FF2B5EF4-FFF2-40B4-BE49-F238E27FC236}">
                <a16:creationId xmlns:a16="http://schemas.microsoft.com/office/drawing/2014/main" id="{5D30717C-53BD-D30A-554E-08FB0E3D3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091" y="445025"/>
            <a:ext cx="3509393" cy="445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16C203-2F0D-565A-73C9-B83526F1B95D}"/>
              </a:ext>
            </a:extLst>
          </p:cNvPr>
          <p:cNvSpPr txBox="1"/>
          <p:nvPr/>
        </p:nvSpPr>
        <p:spPr>
          <a:xfrm>
            <a:off x="311700" y="1282155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dirty="0">
                <a:solidFill>
                  <a:schemeClr val="tx1"/>
                </a:solidFill>
              </a:rPr>
              <a:t>Activatable Widgets contain IMCs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dirty="0">
                <a:solidFill>
                  <a:schemeClr val="tx1"/>
                </a:solidFill>
              </a:rPr>
              <a:t>Only highest visible widget (parallel) get input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dirty="0">
                <a:solidFill>
                  <a:schemeClr val="tx1"/>
                </a:solidFill>
              </a:rPr>
              <a:t> - Plus all Child Widgets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dirty="0">
                <a:solidFill>
                  <a:schemeClr val="tx1"/>
                </a:solidFill>
              </a:rPr>
              <a:t>Default Input Config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dirty="0">
                <a:solidFill>
                  <a:schemeClr val="tx1"/>
                </a:solidFill>
              </a:rPr>
              <a:t>- Default Actions for Back and Accept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8D4BA-F210-3C41-7422-E28EC7A58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9" y="4435644"/>
            <a:ext cx="4812391" cy="525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8A5A1E-DB3A-5439-E320-104CC048F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3" y="3146562"/>
            <a:ext cx="2525817" cy="128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1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Management</a:t>
            </a: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311700" y="1368950"/>
            <a:ext cx="8520600" cy="34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Automates processes</a:t>
            </a: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Contains current state of UI</a:t>
            </a: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sk-SK" sz="1800" dirty="0"/>
              <a:t>Access to UI </a:t>
            </a:r>
            <a:r>
              <a:rPr lang="sk-SK" sz="1800" dirty="0" err="1"/>
              <a:t>from</a:t>
            </a:r>
            <a:r>
              <a:rPr lang="sk-SK" sz="1800" dirty="0"/>
              <a:t> </a:t>
            </a:r>
            <a:r>
              <a:rPr lang="sk-SK" sz="1800" dirty="0" err="1"/>
              <a:t>Gameplay</a:t>
            </a:r>
            <a:r>
              <a:rPr lang="sk-SK" sz="1800" dirty="0"/>
              <a:t> </a:t>
            </a:r>
            <a:r>
              <a:rPr lang="sk-SK" sz="1800" dirty="0" err="1"/>
              <a:t>Code</a:t>
            </a: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sk-SK" sz="1800" dirty="0" err="1"/>
              <a:t>Subsystems</a:t>
            </a:r>
            <a:r>
              <a:rPr lang="sk-SK" sz="1800" dirty="0"/>
              <a:t> </a:t>
            </a:r>
            <a:r>
              <a:rPr lang="sk-SK" sz="1800" dirty="0" err="1"/>
              <a:t>for</a:t>
            </a:r>
            <a:r>
              <a:rPr lang="sk-SK" sz="1800" dirty="0"/>
              <a:t> </a:t>
            </a:r>
            <a:r>
              <a:rPr lang="sk-SK" sz="1800" dirty="0" err="1"/>
              <a:t>additional</a:t>
            </a:r>
            <a:r>
              <a:rPr lang="sk-SK" sz="1800" dirty="0"/>
              <a:t> </a:t>
            </a:r>
            <a:r>
              <a:rPr lang="sk-SK" sz="1800" dirty="0" err="1"/>
              <a:t>managers</a:t>
            </a:r>
            <a:br>
              <a:rPr lang="sk-SK" sz="1800" dirty="0"/>
            </a:br>
            <a:r>
              <a:rPr lang="sk-SK" sz="1800" dirty="0"/>
              <a:t>- </a:t>
            </a:r>
            <a:r>
              <a:rPr lang="sk-SK" sz="1800" dirty="0" err="1"/>
              <a:t>Notification</a:t>
            </a:r>
            <a:br>
              <a:rPr lang="sk-SK" sz="1800" dirty="0"/>
            </a:br>
            <a:r>
              <a:rPr lang="sk-SK" sz="1800" dirty="0"/>
              <a:t>- </a:t>
            </a:r>
            <a:r>
              <a:rPr lang="sk-SK" sz="1800" dirty="0" err="1"/>
              <a:t>Modals</a:t>
            </a:r>
            <a:endParaRPr lang="sk-SK"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sk-SK" sz="1800" dirty="0" err="1"/>
              <a:t>Should</a:t>
            </a:r>
            <a:r>
              <a:rPr lang="sk-SK" sz="1800" dirty="0"/>
              <a:t> </a:t>
            </a:r>
            <a:r>
              <a:rPr lang="sk-SK" sz="1800" dirty="0" err="1"/>
              <a:t>be</a:t>
            </a:r>
            <a:r>
              <a:rPr lang="sk-SK" sz="1800" dirty="0"/>
              <a:t> “</a:t>
            </a:r>
            <a:r>
              <a:rPr lang="sk-SK" sz="1800" dirty="0" err="1"/>
              <a:t>black</a:t>
            </a:r>
            <a:r>
              <a:rPr lang="sk-SK" sz="1800" dirty="0"/>
              <a:t> box” feature, </a:t>
            </a:r>
            <a:r>
              <a:rPr lang="sk-SK" sz="1800" dirty="0" err="1"/>
              <a:t>doesn’t</a:t>
            </a:r>
            <a:r>
              <a:rPr lang="sk-SK" sz="1800" dirty="0"/>
              <a:t> </a:t>
            </a:r>
            <a:r>
              <a:rPr lang="sk-SK" sz="1800" dirty="0" err="1"/>
              <a:t>need</a:t>
            </a:r>
            <a:r>
              <a:rPr lang="sk-SK" sz="1800" dirty="0"/>
              <a:t> to </a:t>
            </a:r>
            <a:r>
              <a:rPr lang="sk-SK" sz="1800" dirty="0" err="1"/>
              <a:t>bother</a:t>
            </a:r>
            <a:r>
              <a:rPr lang="sk-SK" sz="1800" dirty="0"/>
              <a:t> </a:t>
            </a:r>
            <a:r>
              <a:rPr lang="sk-SK" sz="1800" dirty="0" err="1"/>
              <a:t>you</a:t>
            </a:r>
            <a:r>
              <a:rPr lang="sk-SK" sz="1800" dirty="0"/>
              <a:t> </a:t>
            </a:r>
            <a:r>
              <a:rPr lang="sk-SK" sz="1800" dirty="0" err="1"/>
              <a:t>when</a:t>
            </a:r>
            <a:r>
              <a:rPr lang="sk-SK" sz="1800" dirty="0"/>
              <a:t> </a:t>
            </a:r>
            <a:r>
              <a:rPr lang="sk-SK" sz="1800" dirty="0" err="1"/>
              <a:t>coding</a:t>
            </a:r>
            <a:r>
              <a:rPr lang="sk-SK" sz="1800" dirty="0"/>
              <a:t> </a:t>
            </a:r>
            <a:r>
              <a:rPr lang="sk-SK" sz="1800" dirty="0" err="1"/>
              <a:t>Menus</a:t>
            </a:r>
            <a:r>
              <a:rPr lang="sk-SK" sz="1800" dirty="0"/>
              <a:t> </a:t>
            </a:r>
            <a:r>
              <a:rPr lang="sk-SK" sz="1800" dirty="0" err="1"/>
              <a:t>themselves</a:t>
            </a:r>
            <a:endParaRPr lang="sk-SK"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Can be configurable for different levels</a:t>
            </a:r>
            <a:endParaRPr sz="1800" dirty="0"/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sz="1800" dirty="0"/>
              <a:t>Can be implemented either through Subsystem or HUD actor</a:t>
            </a:r>
            <a:endParaRPr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4A20-8435-FD48-5195-75A16E237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Let’s </a:t>
            </a:r>
            <a:r>
              <a:rPr lang="en-US" dirty="0"/>
              <a:t>create simple menu</a:t>
            </a:r>
          </a:p>
        </p:txBody>
      </p:sp>
      <p:sp>
        <p:nvSpPr>
          <p:cNvPr id="3" name="Google Shape;133;p21">
            <a:extLst>
              <a:ext uri="{FF2B5EF4-FFF2-40B4-BE49-F238E27FC236}">
                <a16:creationId xmlns:a16="http://schemas.microsoft.com/office/drawing/2014/main" id="{7A59926D-8CCA-CBF9-5A76-219FEB3816D1}"/>
              </a:ext>
            </a:extLst>
          </p:cNvPr>
          <p:cNvSpPr txBox="1">
            <a:spLocks/>
          </p:cNvSpPr>
          <p:nvPr/>
        </p:nvSpPr>
        <p:spPr>
          <a:xfrm>
            <a:off x="311700" y="1368950"/>
            <a:ext cx="8520600" cy="3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buSzPts val="1800"/>
            </a:pPr>
            <a:r>
              <a:rPr lang="en-US" sz="1800" dirty="0"/>
              <a:t>Button example explanation</a:t>
            </a:r>
          </a:p>
          <a:p>
            <a:pPr marL="114300">
              <a:buSzPts val="1800"/>
            </a:pPr>
            <a:endParaRPr lang="en-US" sz="1800" dirty="0"/>
          </a:p>
          <a:p>
            <a:pPr marL="114300">
              <a:buSzPts val="1800"/>
            </a:pPr>
            <a:r>
              <a:rPr lang="en-US" sz="1800" dirty="0"/>
              <a:t>Buttons:</a:t>
            </a:r>
          </a:p>
          <a:p>
            <a:pPr marL="400050" indent="-285750">
              <a:buSzPts val="1800"/>
              <a:buFontTx/>
              <a:buChar char="-"/>
            </a:pPr>
            <a:r>
              <a:rPr lang="en-US" sz="1800" dirty="0"/>
              <a:t>Resume</a:t>
            </a:r>
          </a:p>
          <a:p>
            <a:pPr marL="400050" indent="-285750">
              <a:buSzPts val="1800"/>
              <a:buFontTx/>
              <a:buChar char="-"/>
            </a:pPr>
            <a:r>
              <a:rPr lang="en-US" sz="1800" dirty="0"/>
              <a:t>Restart</a:t>
            </a:r>
          </a:p>
          <a:p>
            <a:pPr marL="400050" indent="-285750">
              <a:buSzPts val="1800"/>
              <a:buFontTx/>
              <a:buChar char="-"/>
            </a:pPr>
            <a:r>
              <a:rPr lang="en-US" sz="1800" dirty="0"/>
              <a:t>Quit</a:t>
            </a:r>
          </a:p>
          <a:p>
            <a:pPr marL="400050" indent="-285750">
              <a:buSzPts val="1800"/>
              <a:buFontTx/>
              <a:buChar char="-"/>
            </a:pPr>
            <a:endParaRPr lang="en-US" sz="1800" dirty="0"/>
          </a:p>
          <a:p>
            <a:pPr marL="114300">
              <a:buSzPts val="1800"/>
            </a:pPr>
            <a:r>
              <a:rPr lang="en-US" sz="1800" dirty="0"/>
              <a:t>Show menu on Tab press</a:t>
            </a:r>
          </a:p>
          <a:p>
            <a:pPr marL="114300">
              <a:buSzPts val="1800"/>
            </a:pPr>
            <a:r>
              <a:rPr lang="en-US" sz="1800" dirty="0"/>
              <a:t>Hide Quit when gamepad is used</a:t>
            </a:r>
          </a:p>
        </p:txBody>
      </p:sp>
    </p:spTree>
    <p:extLst>
      <p:ext uri="{BB962C8B-B14F-4D97-AF65-F5344CB8AC3E}">
        <p14:creationId xmlns:p14="http://schemas.microsoft.com/office/powerpoint/2010/main" val="3600440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490BC-E533-CA4B-6C1D-8F531BD36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Time</a:t>
            </a:r>
          </a:p>
        </p:txBody>
      </p:sp>
      <p:sp>
        <p:nvSpPr>
          <p:cNvPr id="3" name="Google Shape;133;p21">
            <a:extLst>
              <a:ext uri="{FF2B5EF4-FFF2-40B4-BE49-F238E27FC236}">
                <a16:creationId xmlns:a16="http://schemas.microsoft.com/office/drawing/2014/main" id="{6989357E-4C7B-7AB0-C32C-795DAB7926CC}"/>
              </a:ext>
            </a:extLst>
          </p:cNvPr>
          <p:cNvSpPr txBox="1">
            <a:spLocks/>
          </p:cNvSpPr>
          <p:nvPr/>
        </p:nvSpPr>
        <p:spPr>
          <a:xfrm>
            <a:off x="311700" y="1368950"/>
            <a:ext cx="8520600" cy="3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buSzPts val="1800"/>
            </a:pPr>
            <a:r>
              <a:rPr lang="en-US" sz="1800" dirty="0"/>
              <a:t>Advanced Lists</a:t>
            </a:r>
          </a:p>
          <a:p>
            <a:pPr marL="400050" indent="-285750">
              <a:buSzPts val="1800"/>
              <a:buFontTx/>
              <a:buChar char="-"/>
            </a:pPr>
            <a:r>
              <a:rPr lang="en-US" sz="1800" dirty="0" err="1"/>
              <a:t>ListView</a:t>
            </a:r>
            <a:endParaRPr lang="en-US" sz="1800" dirty="0"/>
          </a:p>
          <a:p>
            <a:pPr marL="400050" indent="-285750">
              <a:buSzPts val="1800"/>
              <a:buFontTx/>
              <a:buChar char="-"/>
            </a:pPr>
            <a:r>
              <a:rPr lang="en-US" sz="1800" dirty="0" err="1"/>
              <a:t>TileView</a:t>
            </a:r>
            <a:endParaRPr lang="en-US" sz="1800" dirty="0"/>
          </a:p>
          <a:p>
            <a:pPr marL="400050" indent="-285750">
              <a:buSzPts val="1800"/>
              <a:buFontTx/>
              <a:buChar char="-"/>
            </a:pPr>
            <a:r>
              <a:rPr lang="en-US" sz="1800" dirty="0" err="1"/>
              <a:t>TreeView</a:t>
            </a:r>
            <a:endParaRPr lang="en-US" sz="1800" dirty="0"/>
          </a:p>
          <a:p>
            <a:pPr marL="400050" indent="-285750">
              <a:buSzPts val="1800"/>
              <a:buFontTx/>
              <a:buChar char="-"/>
            </a:pPr>
            <a:endParaRPr lang="en-US" sz="1800" dirty="0"/>
          </a:p>
          <a:p>
            <a:pPr marL="114300">
              <a:buSzPts val="1800"/>
            </a:pPr>
            <a:r>
              <a:rPr lang="en-US" sz="1800" dirty="0"/>
              <a:t>UI Materials</a:t>
            </a:r>
          </a:p>
          <a:p>
            <a:pPr marL="400050" indent="-285750">
              <a:buSzPts val="1800"/>
              <a:buFontTx/>
              <a:buChar char="-"/>
            </a:pPr>
            <a:r>
              <a:rPr lang="en-US" sz="1800" dirty="0"/>
              <a:t>Why prefer Materials</a:t>
            </a:r>
          </a:p>
          <a:p>
            <a:pPr marL="400050" indent="-285750">
              <a:buSzPts val="1800"/>
              <a:buFontTx/>
              <a:buChar char="-"/>
            </a:pPr>
            <a:r>
              <a:rPr lang="en-US" sz="1800" dirty="0"/>
              <a:t>Performance Differences</a:t>
            </a:r>
          </a:p>
        </p:txBody>
      </p:sp>
    </p:spTree>
    <p:extLst>
      <p:ext uri="{BB962C8B-B14F-4D97-AF65-F5344CB8AC3E}">
        <p14:creationId xmlns:p14="http://schemas.microsoft.com/office/powerpoint/2010/main" val="1967371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Resources</a:t>
            </a:r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>
            <a:off x="311700" y="1368950"/>
            <a:ext cx="4082100" cy="34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 dirty="0">
                <a:solidFill>
                  <a:schemeClr val="hlink"/>
                </a:solidFill>
                <a:hlinkClick r:id="rId3"/>
              </a:rPr>
              <a:t>UI Material Use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 dirty="0">
                <a:solidFill>
                  <a:schemeClr val="hlink"/>
                </a:solidFill>
                <a:hlinkClick r:id="rId4"/>
              </a:rPr>
              <a:t>Basic Optimizations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 dirty="0">
                <a:solidFill>
                  <a:schemeClr val="hlink"/>
                </a:solidFill>
                <a:hlinkClick r:id="rId5"/>
              </a:rPr>
              <a:t>CommonUI Overview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 dirty="0">
                <a:solidFill>
                  <a:schemeClr val="hlink"/>
                </a:solidFill>
                <a:hlinkClick r:id="rId6"/>
              </a:rPr>
              <a:t>CommonUI Tutorial</a:t>
            </a: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316</Words>
  <Application>Microsoft Macintosh PowerPoint</Application>
  <PresentationFormat>On-screen Show (16:9)</PresentationFormat>
  <Paragraphs>68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Simple Dark</vt:lpstr>
      <vt:lpstr>UI Part 1</vt:lpstr>
      <vt:lpstr>Content of this lecture</vt:lpstr>
      <vt:lpstr>UMG &amp; Designer</vt:lpstr>
      <vt:lpstr>Focus</vt:lpstr>
      <vt:lpstr>CommonUI  – Activatable Widgets</vt:lpstr>
      <vt:lpstr>Menus </vt:lpstr>
      <vt:lpstr>Layers</vt:lpstr>
      <vt:lpstr>Input Routing</vt:lpstr>
      <vt:lpstr>UI Management</vt:lpstr>
      <vt:lpstr>Let’s create simple menu</vt:lpstr>
      <vt:lpstr>Next Time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 Janak</cp:lastModifiedBy>
  <cp:revision>10</cp:revision>
  <dcterms:modified xsi:type="dcterms:W3CDTF">2025-12-15T18:13:25Z</dcterms:modified>
</cp:coreProperties>
</file>