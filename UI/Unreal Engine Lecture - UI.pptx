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60" r:id="rId5"/>
    <p:sldId id="259" r:id="rId6"/>
    <p:sldId id="261" r:id="rId7"/>
    <p:sldId id="263" r:id="rId8"/>
    <p:sldId id="266" r:id="rId9"/>
    <p:sldId id="264" r:id="rId10"/>
    <p:sldId id="267" r:id="rId11"/>
    <p:sldId id="268" r:id="rId12"/>
    <p:sldId id="265" r:id="rId13"/>
    <p:sldId id="269" r:id="rId14"/>
    <p:sldId id="270" r:id="rId15"/>
    <p:sldId id="271" r:id="rId16"/>
    <p:sldId id="272" r:id="rId17"/>
    <p:sldId id="273" r:id="rId1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niel Janak" initials="DJ" lastIdx="2" clrIdx="0">
    <p:extLst>
      <p:ext uri="{19B8F6BF-5375-455C-9EA6-DF929625EA0E}">
        <p15:presenceInfo xmlns:p15="http://schemas.microsoft.com/office/powerpoint/2012/main" userId="S::djanak_a@virtuosgames.com::c433d9f9-364a-4ce6-8ac2-e546a8f4372e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9"/>
  </p:normalViewPr>
  <p:slideViewPr>
    <p:cSldViewPr snapToGrid="0">
      <p:cViewPr varScale="1">
        <p:scale>
          <a:sx n="147" d="100"/>
          <a:sy n="147" d="100"/>
        </p:scale>
        <p:origin x="568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27b3fe96102_1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27b3fe96102_1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7b3fe96102_1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7b3fe96102_1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a5809dcb51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2a5809dcb51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a5809dcb51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a5809dcb51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a5809dcb51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a5809dcb51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a5809dcb51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a5809dcb51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a5809dcb5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a5809dcb5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a5809dcb51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2a5809dcb51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a5809dcb51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2a5809dcb51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>
          <a:extLst>
            <a:ext uri="{FF2B5EF4-FFF2-40B4-BE49-F238E27FC236}">
              <a16:creationId xmlns:a16="http://schemas.microsoft.com/office/drawing/2014/main" id="{F5477FA5-B4F8-CF30-A588-567C185D0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27b3fe96102_1_86:notes">
            <a:extLst>
              <a:ext uri="{FF2B5EF4-FFF2-40B4-BE49-F238E27FC236}">
                <a16:creationId xmlns:a16="http://schemas.microsoft.com/office/drawing/2014/main" id="{4DFB3ECA-C130-86FE-2BC3-5372B619EE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27b3fe96102_1_86:notes">
            <a:extLst>
              <a:ext uri="{FF2B5EF4-FFF2-40B4-BE49-F238E27FC236}">
                <a16:creationId xmlns:a16="http://schemas.microsoft.com/office/drawing/2014/main" id="{5873F347-7532-4A60-2C55-65DFBD322A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86735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C48ADE72-093B-63CD-5DAE-8E7F50372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7b3fe96102_1_92:notes">
            <a:extLst>
              <a:ext uri="{FF2B5EF4-FFF2-40B4-BE49-F238E27FC236}">
                <a16:creationId xmlns:a16="http://schemas.microsoft.com/office/drawing/2014/main" id="{03916AD4-145C-C89F-10BF-5B698A10FD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7b3fe96102_1_92:notes">
            <a:extLst>
              <a:ext uri="{FF2B5EF4-FFF2-40B4-BE49-F238E27FC236}">
                <a16:creationId xmlns:a16="http://schemas.microsoft.com/office/drawing/2014/main" id="{62078764-F1F0-54B7-AD4C-E0002D139E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2929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>
          <a:extLst>
            <a:ext uri="{FF2B5EF4-FFF2-40B4-BE49-F238E27FC236}">
              <a16:creationId xmlns:a16="http://schemas.microsoft.com/office/drawing/2014/main" id="{8EC21CB1-BA70-E2F9-59E3-8EB5C561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a5809dcb51_0_1:notes">
            <a:extLst>
              <a:ext uri="{FF2B5EF4-FFF2-40B4-BE49-F238E27FC236}">
                <a16:creationId xmlns:a16="http://schemas.microsoft.com/office/drawing/2014/main" id="{D5735324-69BC-FF26-30C4-C2074B3AA4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a5809dcb51_0_1:notes">
            <a:extLst>
              <a:ext uri="{FF2B5EF4-FFF2-40B4-BE49-F238E27FC236}">
                <a16:creationId xmlns:a16="http://schemas.microsoft.com/office/drawing/2014/main" id="{BBDEE030-C20D-9AF3-64AB-575BE5DE12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2736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0" y="25"/>
            <a:ext cx="9144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1"/>
          </p:nvPr>
        </p:nvSpPr>
        <p:spPr>
          <a:xfrm>
            <a:off x="5069250" y="724200"/>
            <a:ext cx="37074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40" name="Google Shape;40;p9"/>
          <p:cNvPicPr preferRelativeResize="0"/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5069250" y="724200"/>
            <a:ext cx="3695101" cy="3695101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9"/>
          <p:cNvSpPr txBox="1">
            <a:spLocks noGrp="1"/>
          </p:cNvSpPr>
          <p:nvPr>
            <p:ph type="subTitle" idx="2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>
          <a:blip r:embed="rId13">
            <a:alphaModFix amt="21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epicgames.com/documentation/en-us/unreal-engine/overview-of-advanced-multiplatform-user-interfaces-with-common-ui-for-unreal-engine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dev.epicgames.com/documentation/en-us/unreal-engine/optimization-guidelines-for-umg-in-unreal-engin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aHlhkmVDoI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youtube.com/watch?v=TTB5y-03SnE" TargetMode="External"/><Relationship Id="rId5" Type="http://schemas.openxmlformats.org/officeDocument/2006/relationships/hyperlink" Target="https://docs.unrealengine.com/5.0/en-US/overview-of-advanced-multiplatform-user-interfaces-with-common-ui-for-unreal-engine/" TargetMode="External"/><Relationship Id="rId4" Type="http://schemas.openxmlformats.org/officeDocument/2006/relationships/hyperlink" Target="https://docs.unrealengine.com/5.2/en-US/optimization-guidelines-for-umg-in-unreal-engine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unrealengine.com/5.2/en-US/optimization-guidelines-for-umg-in-unreal-engine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-qo3ix-qqAE" TargetMode="Externa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UI Part 1</a:t>
            </a:r>
            <a:endParaRPr dirty="0"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2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Daniel Janák</a:t>
            </a:r>
            <a:endParaRPr dirty="0"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1"/>
          </p:nvPr>
        </p:nvSpPr>
        <p:spPr>
          <a:xfrm>
            <a:off x="5069250" y="724200"/>
            <a:ext cx="37074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 of this lecture</a:t>
            </a:r>
            <a:endParaRPr dirty="0"/>
          </a:p>
        </p:txBody>
      </p:sp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42603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Core content</a:t>
            </a:r>
            <a:endParaRPr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UMG, </a:t>
            </a:r>
            <a:r>
              <a:rPr lang="en" sz="1800" dirty="0" err="1"/>
              <a:t>CommonUI</a:t>
            </a:r>
            <a:r>
              <a:rPr lang="en" sz="1800" dirty="0"/>
              <a:t> &amp; Designer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Focus</a:t>
            </a:r>
            <a:endParaRPr sz="1800" dirty="0"/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 err="1"/>
              <a:t>ActivatableWidgets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Layers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UI Management</a:t>
            </a:r>
            <a:br>
              <a:rPr lang="en" sz="1800" dirty="0"/>
            </a:br>
            <a:r>
              <a:rPr lang="en" sz="1800" dirty="0"/>
              <a:t>Input Routing in </a:t>
            </a:r>
            <a:r>
              <a:rPr lang="en" sz="1800" dirty="0" err="1"/>
              <a:t>CommonUI</a:t>
            </a:r>
            <a:br>
              <a:rPr lang="en" sz="1800" dirty="0"/>
            </a:b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Additional Resources</a:t>
            </a:r>
            <a:endParaRPr sz="1800" dirty="0"/>
          </a:p>
        </p:txBody>
      </p:sp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4572000" y="1368950"/>
            <a:ext cx="42603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sk-SK" sz="1800" dirty="0" err="1"/>
              <a:t>Next</a:t>
            </a:r>
            <a:r>
              <a:rPr lang="sk-SK" sz="1800" dirty="0"/>
              <a:t> </a:t>
            </a:r>
            <a:r>
              <a:rPr lang="sk-SK" sz="1800" dirty="0" err="1"/>
              <a:t>time</a:t>
            </a:r>
            <a:endParaRPr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sk-SK" sz="1800" dirty="0" err="1"/>
              <a:t>Advanced</a:t>
            </a:r>
            <a:r>
              <a:rPr lang="sk-SK" sz="1800" dirty="0"/>
              <a:t> </a:t>
            </a:r>
            <a:r>
              <a:rPr lang="sk-SK" sz="1800" dirty="0" err="1"/>
              <a:t>Lists</a:t>
            </a:r>
            <a:br>
              <a:rPr lang="sk-SK" sz="1800" dirty="0"/>
            </a:br>
            <a:r>
              <a:rPr lang="sk-SK" sz="1800" dirty="0" err="1"/>
              <a:t>Data</a:t>
            </a:r>
            <a:r>
              <a:rPr lang="sk-SK" sz="1800" dirty="0"/>
              <a:t> </a:t>
            </a:r>
            <a:r>
              <a:rPr lang="sk-SK" sz="1800" dirty="0" err="1"/>
              <a:t>Driven</a:t>
            </a:r>
            <a:r>
              <a:rPr lang="sk-SK" sz="1800" dirty="0"/>
              <a:t> UI</a:t>
            </a:r>
            <a:br>
              <a:rPr lang="sk-SK" sz="1800" dirty="0"/>
            </a:br>
            <a:r>
              <a:rPr lang="sk-SK" sz="1800" dirty="0"/>
              <a:t>UI </a:t>
            </a:r>
            <a:r>
              <a:rPr lang="sk-SK" sz="1800" dirty="0" err="1"/>
              <a:t>Materials</a:t>
            </a:r>
            <a:endParaRPr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UMG &amp; Designer</a:t>
            </a:r>
          </a:p>
        </p:txBody>
      </p:sp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311700" y="1187825"/>
            <a:ext cx="8520600" cy="12103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00050" lvl="0" indent="-285750" algn="l" rtl="0"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en" sz="1800" dirty="0"/>
              <a:t>Unreal Motion Graphics</a:t>
            </a:r>
          </a:p>
          <a:p>
            <a:pPr marL="400050" lvl="0" indent="-285750" algn="l" rtl="0"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en-US" sz="1800" dirty="0" err="1">
                <a:hlinkClick r:id="rId3"/>
              </a:rPr>
              <a:t>CommonUI</a:t>
            </a:r>
            <a:br>
              <a:rPr lang="en-US" sz="1800" dirty="0"/>
            </a:br>
            <a:r>
              <a:rPr lang="en-US" sz="1800" dirty="0">
                <a:hlinkClick r:id="rId4"/>
              </a:rPr>
              <a:t>Optimization Guidelines</a:t>
            </a:r>
            <a:endParaRPr lang="en-US" sz="1800" dirty="0"/>
          </a:p>
        </p:txBody>
      </p:sp>
      <p:pic>
        <p:nvPicPr>
          <p:cNvPr id="72" name="Google Shape;72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0687" y="2476926"/>
            <a:ext cx="2315226" cy="255639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262823" y="2472785"/>
            <a:ext cx="2602517" cy="2486336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49210" y="2462712"/>
            <a:ext cx="2315227" cy="25866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7562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Focus</a:t>
            </a:r>
            <a:endParaRPr dirty="0"/>
          </a:p>
        </p:txBody>
      </p:sp>
      <p:sp>
        <p:nvSpPr>
          <p:cNvPr id="87" name="Google Shape;87;p17"/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3431100" cy="15208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Core mechanism behind UI navigation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Only one widget at a time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Focus vs Hover</a:t>
            </a:r>
            <a:endParaRPr sz="1800" dirty="0"/>
          </a:p>
        </p:txBody>
      </p:sp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407" y="2961211"/>
            <a:ext cx="3426393" cy="20169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5B1B89-E290-5DFD-1179-12D41033A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7328" y="445024"/>
            <a:ext cx="4549679" cy="45331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388611" cy="11508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CommonUI</a:t>
            </a:r>
            <a:r>
              <a:rPr lang="en" dirty="0"/>
              <a:t> </a:t>
            </a:r>
            <a:br>
              <a:rPr lang="en" dirty="0"/>
            </a:br>
            <a:r>
              <a:rPr lang="en" dirty="0"/>
              <a:t>– Activatable Widgets</a:t>
            </a:r>
            <a:endParaRPr dirty="0"/>
          </a:p>
        </p:txBody>
      </p:sp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311701" y="1656272"/>
            <a:ext cx="4130904" cy="329529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sk-SK" sz="1800" dirty="0" err="1"/>
              <a:t>Activatable</a:t>
            </a:r>
            <a:r>
              <a:rPr lang="sk-SK" sz="1800" dirty="0"/>
              <a:t> </a:t>
            </a:r>
            <a:r>
              <a:rPr lang="sk-SK" sz="1800" dirty="0" err="1"/>
              <a:t>Widgets</a:t>
            </a:r>
            <a:br>
              <a:rPr lang="sk-SK" sz="1800" dirty="0"/>
            </a:br>
            <a:r>
              <a:rPr lang="sk-SK" sz="1800" dirty="0"/>
              <a:t> - </a:t>
            </a:r>
            <a:r>
              <a:rPr lang="sk-SK" sz="1800" dirty="0" err="1"/>
              <a:t>Manages</a:t>
            </a:r>
            <a:r>
              <a:rPr lang="sk-SK" sz="1800" dirty="0"/>
              <a:t> </a:t>
            </a:r>
            <a:r>
              <a:rPr lang="sk-SK" sz="1800" dirty="0" err="1"/>
              <a:t>lifetimes</a:t>
            </a:r>
            <a:br>
              <a:rPr lang="sk-SK" sz="1800" dirty="0"/>
            </a:br>
            <a:r>
              <a:rPr lang="sk-SK" sz="1800" dirty="0"/>
              <a:t> - </a:t>
            </a:r>
            <a:r>
              <a:rPr lang="sk-SK" sz="1800" dirty="0" err="1"/>
              <a:t>Used</a:t>
            </a:r>
            <a:r>
              <a:rPr lang="sk-SK" sz="1800" dirty="0"/>
              <a:t> by </a:t>
            </a:r>
            <a:r>
              <a:rPr lang="sk-SK" sz="1800" dirty="0" err="1"/>
              <a:t>Stack</a:t>
            </a:r>
            <a:r>
              <a:rPr lang="sk-SK" sz="1800" dirty="0"/>
              <a:t> and </a:t>
            </a:r>
            <a:r>
              <a:rPr lang="sk-SK" sz="1800" dirty="0" err="1"/>
              <a:t>Queue</a:t>
            </a:r>
            <a:r>
              <a:rPr lang="sk-SK" sz="1800" dirty="0"/>
              <a:t> </a:t>
            </a:r>
            <a:r>
              <a:rPr lang="sk-SK" sz="1800" dirty="0" err="1"/>
              <a:t>panels</a:t>
            </a:r>
            <a:br>
              <a:rPr lang="sk-SK" sz="1800" dirty="0"/>
            </a:b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Input Routing</a:t>
            </a:r>
            <a:br>
              <a:rPr lang="en" sz="1800" dirty="0"/>
            </a:br>
            <a:r>
              <a:rPr lang="en" sz="1800" dirty="0"/>
              <a:t> - Tree of Activatable Widgets</a:t>
            </a:r>
            <a:br>
              <a:rPr lang="en" sz="1800" dirty="0"/>
            </a:br>
            <a:r>
              <a:rPr lang="en" sz="1800" dirty="0"/>
              <a:t> - Detects top most AW and processes input in t</a:t>
            </a:r>
            <a:r>
              <a:rPr lang="en-US" sz="1800" dirty="0"/>
              <a:t>he branch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Input Modes</a:t>
            </a:r>
            <a:br>
              <a:rPr lang="en-US" sz="1800" dirty="0"/>
            </a:br>
            <a:r>
              <a:rPr lang="en-US" sz="1800" dirty="0"/>
              <a:t>- Config for Gameplay, Menu, All</a:t>
            </a:r>
            <a:br>
              <a:rPr lang="en-US" sz="1800" dirty="0"/>
            </a:br>
            <a:r>
              <a:rPr lang="en-US" sz="1800" dirty="0"/>
              <a:t>- Pointer Capture</a:t>
            </a:r>
            <a:endParaRPr sz="1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185BDF-6A4A-073C-A156-27742AB85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445025"/>
            <a:ext cx="4388611" cy="42441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907281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Menus</a:t>
            </a:r>
            <a:br>
              <a:rPr lang="en" dirty="0"/>
            </a:br>
            <a:endParaRPr dirty="0"/>
          </a:p>
        </p:txBody>
      </p:sp>
      <p:sp>
        <p:nvSpPr>
          <p:cNvPr id="94" name="Google Shape;94;p18"/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46518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Partition to standalone Menus and Submenus</a:t>
            </a:r>
            <a:br>
              <a:rPr lang="en" sz="1800" dirty="0"/>
            </a:br>
            <a:br>
              <a:rPr lang="en" sz="1800" dirty="0"/>
            </a:br>
            <a:r>
              <a:rPr lang="en" sz="1800" dirty="0"/>
              <a:t>Event Based, usually no direct access to other Menus</a:t>
            </a:r>
            <a:br>
              <a:rPr lang="en" sz="1800" dirty="0"/>
            </a:br>
            <a:br>
              <a:rPr lang="sk-SK" sz="1800" dirty="0"/>
            </a:br>
            <a:r>
              <a:rPr lang="en-US" sz="1800" dirty="0"/>
              <a:t>Use of Submenus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Clean-up on deactivation when switching</a:t>
            </a:r>
            <a:br>
              <a:rPr lang="en-US" sz="1800" dirty="0"/>
            </a:br>
            <a:endParaRPr sz="1800" dirty="0"/>
          </a:p>
        </p:txBody>
      </p:sp>
      <p:pic>
        <p:nvPicPr>
          <p:cNvPr id="95" name="Google Shape;9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91674" y="446051"/>
            <a:ext cx="3540626" cy="42514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Layers</a:t>
            </a:r>
            <a:endParaRPr dirty="0"/>
          </a:p>
        </p:txBody>
      </p:sp>
      <p:sp>
        <p:nvSpPr>
          <p:cNvPr id="126" name="Google Shape;126;p20"/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40821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Grouping of Menus </a:t>
            </a:r>
            <a:br>
              <a:rPr lang="en" sz="1800" dirty="0"/>
            </a:br>
            <a:r>
              <a:rPr lang="en" sz="1800" dirty="0"/>
              <a:t>- usually by Stacks and Queues</a:t>
            </a:r>
            <a:endParaRPr sz="1800" dirty="0"/>
          </a:p>
          <a:p>
            <a:pPr marL="114300" lvl="0">
              <a:buSzPts val="1800"/>
            </a:pPr>
            <a:br>
              <a:rPr lang="en" sz="1800" dirty="0"/>
            </a:br>
            <a:r>
              <a:rPr lang="en" sz="1800" dirty="0"/>
              <a:t>Use of Layer Widget </a:t>
            </a:r>
            <a:br>
              <a:rPr lang="en" sz="1800" dirty="0"/>
            </a:br>
            <a:r>
              <a:rPr lang="en" sz="1800" dirty="0"/>
              <a:t>- Rendering order</a:t>
            </a:r>
            <a:endParaRPr sz="1800" dirty="0"/>
          </a:p>
        </p:txBody>
      </p:sp>
      <p:pic>
        <p:nvPicPr>
          <p:cNvPr id="127" name="Google Shape;12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2275" y="749713"/>
            <a:ext cx="3644074" cy="3644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78704-29C2-7AF4-696C-D9DF50EA2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47175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Input Routing</a:t>
            </a:r>
          </a:p>
        </p:txBody>
      </p:sp>
      <p:pic>
        <p:nvPicPr>
          <p:cNvPr id="1026" name="Picture 2" descr="Flowchart showing input routing logic.">
            <a:extLst>
              <a:ext uri="{FF2B5EF4-FFF2-40B4-BE49-F238E27FC236}">
                <a16:creationId xmlns:a16="http://schemas.microsoft.com/office/drawing/2014/main" id="{5D30717C-53BD-D30A-554E-08FB0E3D3B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4091" y="445025"/>
            <a:ext cx="3509393" cy="4453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16C203-2F0D-565A-73C9-B83526F1B95D}"/>
              </a:ext>
            </a:extLst>
          </p:cNvPr>
          <p:cNvSpPr txBox="1"/>
          <p:nvPr/>
        </p:nvSpPr>
        <p:spPr>
          <a:xfrm>
            <a:off x="311700" y="1282155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US" sz="1800" dirty="0">
                <a:solidFill>
                  <a:schemeClr val="tx1"/>
                </a:solidFill>
              </a:rPr>
              <a:t>Activatable Widgets contain IMCs</a:t>
            </a:r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US" sz="1800" dirty="0">
                <a:solidFill>
                  <a:schemeClr val="tx1"/>
                </a:solidFill>
              </a:rPr>
              <a:t>Only highest visible widget (parallel) get input</a:t>
            </a:r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US" sz="1800" dirty="0">
                <a:solidFill>
                  <a:schemeClr val="tx1"/>
                </a:solidFill>
              </a:rPr>
              <a:t> - Plus all Child Widgets</a:t>
            </a:r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US" sz="1800" dirty="0">
                <a:solidFill>
                  <a:schemeClr val="tx1"/>
                </a:solidFill>
              </a:rPr>
              <a:t>Default Input Config</a:t>
            </a:r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US" sz="1800" dirty="0">
                <a:solidFill>
                  <a:schemeClr val="tx1"/>
                </a:solidFill>
              </a:rPr>
              <a:t>- Default Actions for Back and Accept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C8D4BA-F210-3C41-7422-E28EC7A58F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09" y="4435644"/>
            <a:ext cx="4812391" cy="5256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8A5A1E-DB3A-5439-E320-104CC048F4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3" y="3146562"/>
            <a:ext cx="2525817" cy="1289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315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Management</a:t>
            </a:r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85206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Automates processes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Contains current state of UI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sk-SK" sz="1800" dirty="0"/>
              <a:t>Access to UI </a:t>
            </a:r>
            <a:r>
              <a:rPr lang="sk-SK" sz="1800" dirty="0" err="1"/>
              <a:t>from</a:t>
            </a:r>
            <a:r>
              <a:rPr lang="sk-SK" sz="1800" dirty="0"/>
              <a:t> </a:t>
            </a:r>
            <a:r>
              <a:rPr lang="sk-SK" sz="1800" dirty="0" err="1"/>
              <a:t>Gameplay</a:t>
            </a:r>
            <a:r>
              <a:rPr lang="sk-SK" sz="1800" dirty="0"/>
              <a:t> </a:t>
            </a:r>
            <a:r>
              <a:rPr lang="sk-SK" sz="1800" dirty="0" err="1"/>
              <a:t>Code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sk-SK" sz="1800" dirty="0" err="1"/>
              <a:t>Subsystems</a:t>
            </a:r>
            <a:r>
              <a:rPr lang="sk-SK" sz="1800" dirty="0"/>
              <a:t> </a:t>
            </a:r>
            <a:r>
              <a:rPr lang="sk-SK" sz="1800" dirty="0" err="1"/>
              <a:t>for</a:t>
            </a:r>
            <a:r>
              <a:rPr lang="sk-SK" sz="1800" dirty="0"/>
              <a:t> </a:t>
            </a:r>
            <a:r>
              <a:rPr lang="sk-SK" sz="1800" dirty="0" err="1"/>
              <a:t>additional</a:t>
            </a:r>
            <a:r>
              <a:rPr lang="sk-SK" sz="1800" dirty="0"/>
              <a:t> </a:t>
            </a:r>
            <a:r>
              <a:rPr lang="sk-SK" sz="1800" dirty="0" err="1"/>
              <a:t>managers</a:t>
            </a:r>
            <a:br>
              <a:rPr lang="sk-SK" sz="1800" dirty="0"/>
            </a:br>
            <a:r>
              <a:rPr lang="sk-SK" sz="1800" dirty="0"/>
              <a:t>- </a:t>
            </a:r>
            <a:r>
              <a:rPr lang="sk-SK" sz="1800" dirty="0" err="1"/>
              <a:t>Notification</a:t>
            </a:r>
            <a:br>
              <a:rPr lang="sk-SK" sz="1800" dirty="0"/>
            </a:br>
            <a:r>
              <a:rPr lang="sk-SK" sz="1800" dirty="0"/>
              <a:t>- </a:t>
            </a:r>
            <a:r>
              <a:rPr lang="sk-SK" sz="1800" dirty="0" err="1"/>
              <a:t>Modals</a:t>
            </a:r>
            <a:endParaRPr lang="sk-SK"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sk-SK" sz="1800" dirty="0" err="1"/>
              <a:t>Should</a:t>
            </a:r>
            <a:r>
              <a:rPr lang="sk-SK" sz="1800" dirty="0"/>
              <a:t> </a:t>
            </a:r>
            <a:r>
              <a:rPr lang="sk-SK" sz="1800" dirty="0" err="1"/>
              <a:t>be</a:t>
            </a:r>
            <a:r>
              <a:rPr lang="sk-SK" sz="1800" dirty="0"/>
              <a:t> “</a:t>
            </a:r>
            <a:r>
              <a:rPr lang="sk-SK" sz="1800" dirty="0" err="1"/>
              <a:t>black</a:t>
            </a:r>
            <a:r>
              <a:rPr lang="sk-SK" sz="1800" dirty="0"/>
              <a:t> box” feature, </a:t>
            </a:r>
            <a:r>
              <a:rPr lang="sk-SK" sz="1800" dirty="0" err="1"/>
              <a:t>doesn’t</a:t>
            </a:r>
            <a:r>
              <a:rPr lang="sk-SK" sz="1800" dirty="0"/>
              <a:t> </a:t>
            </a:r>
            <a:r>
              <a:rPr lang="sk-SK" sz="1800" dirty="0" err="1"/>
              <a:t>need</a:t>
            </a:r>
            <a:r>
              <a:rPr lang="sk-SK" sz="1800" dirty="0"/>
              <a:t> to </a:t>
            </a:r>
            <a:r>
              <a:rPr lang="sk-SK" sz="1800" dirty="0" err="1"/>
              <a:t>bother</a:t>
            </a:r>
            <a:r>
              <a:rPr lang="sk-SK" sz="1800" dirty="0"/>
              <a:t> </a:t>
            </a:r>
            <a:r>
              <a:rPr lang="sk-SK" sz="1800" dirty="0" err="1"/>
              <a:t>you</a:t>
            </a:r>
            <a:r>
              <a:rPr lang="sk-SK" sz="1800" dirty="0"/>
              <a:t> </a:t>
            </a:r>
            <a:r>
              <a:rPr lang="sk-SK" sz="1800" dirty="0" err="1"/>
              <a:t>when</a:t>
            </a:r>
            <a:r>
              <a:rPr lang="sk-SK" sz="1800" dirty="0"/>
              <a:t> </a:t>
            </a:r>
            <a:r>
              <a:rPr lang="sk-SK" sz="1800" dirty="0" err="1"/>
              <a:t>coding</a:t>
            </a:r>
            <a:r>
              <a:rPr lang="sk-SK" sz="1800" dirty="0"/>
              <a:t> </a:t>
            </a:r>
            <a:r>
              <a:rPr lang="sk-SK" sz="1800" dirty="0" err="1"/>
              <a:t>Menus</a:t>
            </a:r>
            <a:r>
              <a:rPr lang="sk-SK" sz="1800" dirty="0"/>
              <a:t> </a:t>
            </a:r>
            <a:r>
              <a:rPr lang="sk-SK" sz="1800" dirty="0" err="1"/>
              <a:t>themselves</a:t>
            </a:r>
            <a:endParaRPr lang="sk-SK"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Can be configurable for different levels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Can be implemented either through Subsystem or HUD actor</a:t>
            </a:r>
            <a:endParaRPr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E4A20-8435-FD48-5195-75A16E237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Let’s </a:t>
            </a:r>
            <a:r>
              <a:rPr lang="en-US" dirty="0"/>
              <a:t>create simple menu</a:t>
            </a:r>
          </a:p>
        </p:txBody>
      </p:sp>
      <p:sp>
        <p:nvSpPr>
          <p:cNvPr id="3" name="Google Shape;133;p21">
            <a:extLst>
              <a:ext uri="{FF2B5EF4-FFF2-40B4-BE49-F238E27FC236}">
                <a16:creationId xmlns:a16="http://schemas.microsoft.com/office/drawing/2014/main" id="{7A59926D-8CCA-CBF9-5A76-219FEB3816D1}"/>
              </a:ext>
            </a:extLst>
          </p:cNvPr>
          <p:cNvSpPr txBox="1">
            <a:spLocks/>
          </p:cNvSpPr>
          <p:nvPr/>
        </p:nvSpPr>
        <p:spPr>
          <a:xfrm>
            <a:off x="311700" y="1368950"/>
            <a:ext cx="8520600" cy="34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>
              <a:buSzPts val="1800"/>
            </a:pPr>
            <a:r>
              <a:rPr lang="en-US" sz="1800" dirty="0"/>
              <a:t>Button example explanation</a:t>
            </a:r>
          </a:p>
          <a:p>
            <a:pPr marL="114300">
              <a:buSzPts val="1800"/>
            </a:pPr>
            <a:endParaRPr lang="en-US" sz="1800" dirty="0"/>
          </a:p>
          <a:p>
            <a:pPr marL="114300">
              <a:buSzPts val="1800"/>
            </a:pPr>
            <a:r>
              <a:rPr lang="en-US" sz="1800" dirty="0"/>
              <a:t>Buttons: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Resume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Restart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Quit</a:t>
            </a:r>
          </a:p>
          <a:p>
            <a:pPr marL="400050" indent="-285750">
              <a:buSzPts val="1800"/>
              <a:buFontTx/>
              <a:buChar char="-"/>
            </a:pPr>
            <a:endParaRPr lang="en-US" sz="1800" dirty="0"/>
          </a:p>
          <a:p>
            <a:pPr marL="114300">
              <a:buSzPts val="1800"/>
            </a:pPr>
            <a:r>
              <a:rPr lang="en-US" sz="1800" dirty="0"/>
              <a:t>Show menu on Tab press</a:t>
            </a:r>
          </a:p>
          <a:p>
            <a:pPr marL="114300">
              <a:buSzPts val="1800"/>
            </a:pPr>
            <a:r>
              <a:rPr lang="en-US" sz="1800" dirty="0"/>
              <a:t>Hide Quit when gamepad is used</a:t>
            </a:r>
          </a:p>
        </p:txBody>
      </p:sp>
    </p:spTree>
    <p:extLst>
      <p:ext uri="{BB962C8B-B14F-4D97-AF65-F5344CB8AC3E}">
        <p14:creationId xmlns:p14="http://schemas.microsoft.com/office/powerpoint/2010/main" val="3600440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490BC-E533-CA4B-6C1D-8F531BD36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Next Time</a:t>
            </a:r>
          </a:p>
        </p:txBody>
      </p:sp>
      <p:sp>
        <p:nvSpPr>
          <p:cNvPr id="3" name="Google Shape;133;p21">
            <a:extLst>
              <a:ext uri="{FF2B5EF4-FFF2-40B4-BE49-F238E27FC236}">
                <a16:creationId xmlns:a16="http://schemas.microsoft.com/office/drawing/2014/main" id="{6989357E-4C7B-7AB0-C32C-795DAB7926CC}"/>
              </a:ext>
            </a:extLst>
          </p:cNvPr>
          <p:cNvSpPr txBox="1">
            <a:spLocks/>
          </p:cNvSpPr>
          <p:nvPr/>
        </p:nvSpPr>
        <p:spPr>
          <a:xfrm>
            <a:off x="311700" y="1368950"/>
            <a:ext cx="8520600" cy="34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>
              <a:buSzPts val="1800"/>
            </a:pPr>
            <a:r>
              <a:rPr lang="en-US" sz="1800" dirty="0"/>
              <a:t>Advanced Lists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 err="1"/>
              <a:t>ListView</a:t>
            </a:r>
            <a:endParaRPr lang="en-US" sz="1800" dirty="0"/>
          </a:p>
          <a:p>
            <a:pPr marL="400050" indent="-285750">
              <a:buSzPts val="1800"/>
              <a:buFontTx/>
              <a:buChar char="-"/>
            </a:pPr>
            <a:r>
              <a:rPr lang="en-US" sz="1800" dirty="0" err="1"/>
              <a:t>TileView</a:t>
            </a:r>
            <a:endParaRPr lang="en-US" sz="1800" dirty="0"/>
          </a:p>
          <a:p>
            <a:pPr marL="400050" indent="-285750">
              <a:buSzPts val="1800"/>
              <a:buFontTx/>
              <a:buChar char="-"/>
            </a:pPr>
            <a:r>
              <a:rPr lang="en-US" sz="1800" dirty="0" err="1"/>
              <a:t>TreeView</a:t>
            </a:r>
            <a:endParaRPr lang="en-US" sz="1800" dirty="0"/>
          </a:p>
          <a:p>
            <a:pPr marL="400050" indent="-285750">
              <a:buSzPts val="1800"/>
              <a:buFontTx/>
              <a:buChar char="-"/>
            </a:pPr>
            <a:endParaRPr lang="en-US" sz="1800" dirty="0"/>
          </a:p>
          <a:p>
            <a:pPr marL="114300">
              <a:buSzPts val="1800"/>
            </a:pPr>
            <a:r>
              <a:rPr lang="en-US" sz="1800" dirty="0"/>
              <a:t>UI Materials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Why prefer Materials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Performance Differences</a:t>
            </a:r>
          </a:p>
        </p:txBody>
      </p:sp>
    </p:spTree>
    <p:extLst>
      <p:ext uri="{BB962C8B-B14F-4D97-AF65-F5344CB8AC3E}">
        <p14:creationId xmlns:p14="http://schemas.microsoft.com/office/powerpoint/2010/main" val="1967371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Additional Resources</a:t>
            </a:r>
            <a:endParaRPr/>
          </a:p>
        </p:txBody>
      </p:sp>
      <p:sp>
        <p:nvSpPr>
          <p:cNvPr id="139" name="Google Shape;139;p22"/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40821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u="sng" dirty="0">
                <a:solidFill>
                  <a:schemeClr val="hlink"/>
                </a:solidFill>
                <a:hlinkClick r:id="rId3"/>
              </a:rPr>
              <a:t>UI Material Use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u="sng" dirty="0">
                <a:solidFill>
                  <a:schemeClr val="hlink"/>
                </a:solidFill>
                <a:hlinkClick r:id="rId4"/>
              </a:rPr>
              <a:t>Basic Optimizations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u="sng" dirty="0">
                <a:solidFill>
                  <a:schemeClr val="hlink"/>
                </a:solidFill>
                <a:hlinkClick r:id="rId5"/>
              </a:rPr>
              <a:t>CommonUI Overview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u="sng" dirty="0">
                <a:solidFill>
                  <a:schemeClr val="hlink"/>
                </a:solidFill>
                <a:hlinkClick r:id="rId6"/>
              </a:rPr>
              <a:t>CommonUI Tutorial</a:t>
            </a:r>
            <a:endParaRPr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>
          <a:extLst>
            <a:ext uri="{FF2B5EF4-FFF2-40B4-BE49-F238E27FC236}">
              <a16:creationId xmlns:a16="http://schemas.microsoft.com/office/drawing/2014/main" id="{DE000C2F-9031-5202-FAFD-03C544BA8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C490AC15-1D79-13E4-8E42-CC5FC23565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UI Part 2</a:t>
            </a:r>
            <a:endParaRPr dirty="0"/>
          </a:p>
        </p:txBody>
      </p:sp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B7846718-0995-4937-AF25-190E312E548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Daniel Janák</a:t>
            </a:r>
            <a:endParaRPr dirty="0"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0E6CDF24-FEB3-129E-56E8-828568E3D4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69250" y="724200"/>
            <a:ext cx="37074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06091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09C1337C-4C6A-8D48-B971-33C07E553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>
            <a:extLst>
              <a:ext uri="{FF2B5EF4-FFF2-40B4-BE49-F238E27FC236}">
                <a16:creationId xmlns:a16="http://schemas.microsoft.com/office/drawing/2014/main" id="{4C4F354A-F8AB-5090-A10B-73A06E5ED9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 of this lecture</a:t>
            </a:r>
            <a:endParaRPr dirty="0"/>
          </a:p>
        </p:txBody>
      </p:sp>
      <p:sp>
        <p:nvSpPr>
          <p:cNvPr id="64" name="Google Shape;64;p14">
            <a:extLst>
              <a:ext uri="{FF2B5EF4-FFF2-40B4-BE49-F238E27FC236}">
                <a16:creationId xmlns:a16="http://schemas.microsoft.com/office/drawing/2014/main" id="{AEC7D755-B090-9C3B-CDAB-6DAC74981E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368950"/>
            <a:ext cx="4260300" cy="34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sk-SK" sz="1800" dirty="0" err="1"/>
              <a:t>Basic</a:t>
            </a:r>
            <a:r>
              <a:rPr lang="sk-SK" sz="1800" dirty="0"/>
              <a:t> </a:t>
            </a:r>
            <a:r>
              <a:rPr lang="sk-SK" sz="1800" dirty="0" err="1"/>
              <a:t>Layouting</a:t>
            </a:r>
            <a:r>
              <a:rPr lang="sk-SK" sz="1800" dirty="0"/>
              <a:t> </a:t>
            </a:r>
            <a:r>
              <a:rPr lang="sk-SK" sz="1800" dirty="0" err="1"/>
              <a:t>Rules</a:t>
            </a:r>
            <a:endParaRPr sz="1800" dirty="0"/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sk-SK" sz="1800" dirty="0" err="1"/>
              <a:t>Dos</a:t>
            </a:r>
            <a:r>
              <a:rPr lang="sk-SK" sz="1800" dirty="0"/>
              <a:t> And </a:t>
            </a:r>
            <a:r>
              <a:rPr lang="sk-SK" sz="1800" dirty="0" err="1"/>
              <a:t>Donts</a:t>
            </a:r>
            <a:br>
              <a:rPr lang="sk-SK" sz="1800" dirty="0"/>
            </a:br>
            <a:r>
              <a:rPr lang="sk-SK" sz="1800" dirty="0" err="1"/>
              <a:t>ListViews</a:t>
            </a:r>
            <a:endParaRPr sz="1800" dirty="0"/>
          </a:p>
          <a:p>
            <a:pPr marL="114300" lvl="0" algn="l" rtl="0"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" sz="1800" dirty="0"/>
              <a:t>Materials</a:t>
            </a:r>
            <a:br>
              <a:rPr lang="en" sz="1800" dirty="0"/>
            </a:br>
            <a:r>
              <a:rPr lang="en" sz="1800" dirty="0"/>
              <a:t>Performance</a:t>
            </a:r>
            <a:endParaRPr sz="18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FE8D67-3F73-5A47-D192-76D964D8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7686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>
          <a:extLst>
            <a:ext uri="{FF2B5EF4-FFF2-40B4-BE49-F238E27FC236}">
              <a16:creationId xmlns:a16="http://schemas.microsoft.com/office/drawing/2014/main" id="{64CFEE62-2C54-68F3-6017-DAEED31CD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AF45D6F4-450E-696C-D5FA-68F2FB56B6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388611" cy="11508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Dos and </a:t>
            </a:r>
            <a:r>
              <a:rPr lang="en" dirty="0" err="1"/>
              <a:t>Donts</a:t>
            </a:r>
            <a:endParaRPr dirty="0"/>
          </a:p>
        </p:txBody>
      </p:sp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87528E94-1EFC-8C06-B987-EF9B2C1837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1" y="1201783"/>
            <a:ext cx="4130904" cy="37497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>
              <a:buSzPts val="1800"/>
            </a:pPr>
            <a:r>
              <a:rPr lang="sk-SK" sz="1800" dirty="0" err="1"/>
              <a:t>Reuse</a:t>
            </a:r>
            <a:r>
              <a:rPr lang="sk-SK" sz="1800" dirty="0"/>
              <a:t> </a:t>
            </a:r>
            <a:r>
              <a:rPr lang="sk-SK" sz="1800" dirty="0" err="1"/>
              <a:t>widgets</a:t>
            </a:r>
            <a:r>
              <a:rPr lang="sk-SK" sz="1800" dirty="0"/>
              <a:t> </a:t>
            </a:r>
            <a:r>
              <a:rPr lang="sk-SK" sz="1800" dirty="0" err="1"/>
              <a:t>whenever</a:t>
            </a:r>
            <a:r>
              <a:rPr lang="sk-SK" sz="1800" dirty="0"/>
              <a:t> </a:t>
            </a:r>
            <a:r>
              <a:rPr lang="sk-SK" sz="1800" dirty="0" err="1"/>
              <a:t>possible</a:t>
            </a:r>
            <a:br>
              <a:rPr lang="sk-SK" sz="1800" dirty="0"/>
            </a:br>
            <a:br>
              <a:rPr lang="sk-SK" sz="1800" dirty="0"/>
            </a:br>
            <a:r>
              <a:rPr lang="sk-SK" sz="1800" dirty="0" err="1"/>
              <a:t>Instantiate</a:t>
            </a:r>
            <a:r>
              <a:rPr lang="sk-SK" sz="1800" dirty="0"/>
              <a:t> </a:t>
            </a:r>
            <a:r>
              <a:rPr lang="sk-SK" sz="1800" dirty="0" err="1"/>
              <a:t>Widgets</a:t>
            </a:r>
            <a:r>
              <a:rPr lang="sk-SK" sz="1800" dirty="0"/>
              <a:t> on </a:t>
            </a:r>
            <a:r>
              <a:rPr lang="sk-SK" sz="1800" dirty="0" err="1"/>
              <a:t>demand</a:t>
            </a:r>
            <a:br>
              <a:rPr lang="sk-SK" sz="1800" dirty="0"/>
            </a:br>
            <a:br>
              <a:rPr lang="en-US" sz="1800" dirty="0"/>
            </a:br>
            <a:r>
              <a:rPr lang="en-US" sz="1800" dirty="0"/>
              <a:t>Cleanup after yourself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Do not access widget properties outside of their scope</a:t>
            </a:r>
            <a:br>
              <a:rPr lang="en-US" sz="1800" dirty="0"/>
            </a:br>
            <a:r>
              <a:rPr lang="en-US" sz="1800" dirty="0"/>
              <a:t> </a:t>
            </a:r>
            <a:br>
              <a:rPr lang="en-US" sz="1800" dirty="0"/>
            </a:br>
            <a:r>
              <a:rPr lang="en-US" sz="1800" dirty="0"/>
              <a:t>Avoid getting data in Tick</a:t>
            </a:r>
            <a:br>
              <a:rPr lang="en-US" sz="1800" dirty="0"/>
            </a:br>
            <a:br>
              <a:rPr lang="en-US" sz="1800" dirty="0"/>
            </a:br>
            <a:r>
              <a:rPr lang="en-US" sz="1800" u="sng" dirty="0">
                <a:solidFill>
                  <a:schemeClr val="hlink"/>
                </a:solidFill>
                <a:hlinkClick r:id="rId3"/>
              </a:rPr>
              <a:t>Basic Optimizations</a:t>
            </a:r>
            <a:endParaRPr sz="1800" dirty="0"/>
          </a:p>
        </p:txBody>
      </p:sp>
    </p:spTree>
    <p:extLst>
      <p:ext uri="{BB962C8B-B14F-4D97-AF65-F5344CB8AC3E}">
        <p14:creationId xmlns:p14="http://schemas.microsoft.com/office/powerpoint/2010/main" val="3170702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F0C61-5979-1D20-795D-2D7E6FD90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81FDE-5224-C3A2-940E-9330ADB81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ListView</a:t>
            </a:r>
            <a:endParaRPr lang="en-US" dirty="0"/>
          </a:p>
        </p:txBody>
      </p:sp>
      <p:sp>
        <p:nvSpPr>
          <p:cNvPr id="3" name="Google Shape;133;p21">
            <a:extLst>
              <a:ext uri="{FF2B5EF4-FFF2-40B4-BE49-F238E27FC236}">
                <a16:creationId xmlns:a16="http://schemas.microsoft.com/office/drawing/2014/main" id="{B6EA4CD9-A87E-B61B-E91E-34364C7888ED}"/>
              </a:ext>
            </a:extLst>
          </p:cNvPr>
          <p:cNvSpPr txBox="1">
            <a:spLocks/>
          </p:cNvSpPr>
          <p:nvPr/>
        </p:nvSpPr>
        <p:spPr>
          <a:xfrm>
            <a:off x="311700" y="1368950"/>
            <a:ext cx="8520600" cy="34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>
              <a:buSzPts val="1800"/>
            </a:pPr>
            <a:r>
              <a:rPr lang="en-US" sz="1800" dirty="0"/>
              <a:t>Scrollable containers that pool widgets and reuse them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 err="1"/>
              <a:t>ListView</a:t>
            </a:r>
            <a:endParaRPr lang="en-US" sz="1800" dirty="0"/>
          </a:p>
          <a:p>
            <a:pPr marL="400050" indent="-285750">
              <a:buSzPts val="1800"/>
              <a:buFontTx/>
              <a:buChar char="-"/>
            </a:pPr>
            <a:r>
              <a:rPr lang="en-US" sz="1800" dirty="0" err="1"/>
              <a:t>TileView</a:t>
            </a:r>
            <a:endParaRPr lang="en-US" sz="1800" dirty="0"/>
          </a:p>
          <a:p>
            <a:pPr marL="400050" indent="-285750">
              <a:buSzPts val="1800"/>
              <a:buFontTx/>
              <a:buChar char="-"/>
            </a:pPr>
            <a:r>
              <a:rPr lang="en-US" sz="1800" dirty="0" err="1"/>
              <a:t>TreeView</a:t>
            </a:r>
            <a:endParaRPr lang="en-US" sz="1800" dirty="0"/>
          </a:p>
          <a:p>
            <a:pPr marL="400050" indent="-285750">
              <a:buSzPts val="1800"/>
              <a:buFontTx/>
              <a:buChar char="-"/>
            </a:pPr>
            <a:endParaRPr lang="en-US" sz="1800" dirty="0"/>
          </a:p>
          <a:p>
            <a:pPr marL="114300">
              <a:buSzPts val="1800"/>
            </a:pPr>
            <a:r>
              <a:rPr lang="en-US" sz="1800" dirty="0"/>
              <a:t>Difference from classic </a:t>
            </a:r>
            <a:r>
              <a:rPr lang="en-US" sz="1800" dirty="0" err="1"/>
              <a:t>scrollboxes</a:t>
            </a:r>
            <a:endParaRPr lang="en-US" sz="1800" dirty="0"/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Data and Widgets are separated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 err="1"/>
              <a:t>Selectability</a:t>
            </a:r>
            <a:r>
              <a:rPr lang="en-US" sz="1800" dirty="0"/>
              <a:t> of Data instead of Widgets</a:t>
            </a:r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Better </a:t>
            </a:r>
            <a:r>
              <a:rPr lang="en-US" sz="1800" dirty="0" err="1"/>
              <a:t>autoscroll</a:t>
            </a:r>
            <a:endParaRPr lang="en-US" sz="1800" dirty="0"/>
          </a:p>
          <a:p>
            <a:pPr marL="400050" indent="-285750">
              <a:buSzPts val="1800"/>
              <a:buFontTx/>
              <a:buChar char="-"/>
            </a:pPr>
            <a:r>
              <a:rPr lang="en-US" sz="1800" dirty="0"/>
              <a:t>Can be combined with buttons</a:t>
            </a:r>
          </a:p>
          <a:p>
            <a:pPr marL="114300">
              <a:buSzPts val="1800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6391338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E33D4-1968-7E72-862D-407A735B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D6A2E-0995-01CA-2795-5AA435B6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Materials and Performance</a:t>
            </a:r>
          </a:p>
        </p:txBody>
      </p:sp>
      <p:sp>
        <p:nvSpPr>
          <p:cNvPr id="3" name="Google Shape;133;p21">
            <a:extLst>
              <a:ext uri="{FF2B5EF4-FFF2-40B4-BE49-F238E27FC236}">
                <a16:creationId xmlns:a16="http://schemas.microsoft.com/office/drawing/2014/main" id="{40CDFFA2-9F26-DA83-AE3E-464A8A839C59}"/>
              </a:ext>
            </a:extLst>
          </p:cNvPr>
          <p:cNvSpPr txBox="1">
            <a:spLocks/>
          </p:cNvSpPr>
          <p:nvPr/>
        </p:nvSpPr>
        <p:spPr>
          <a:xfrm>
            <a:off x="311700" y="1368950"/>
            <a:ext cx="8520600" cy="34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FontTx/>
              <a:buChar char="-"/>
            </a:pPr>
            <a:r>
              <a:rPr lang="en-US" sz="1800" dirty="0"/>
              <a:t>Calculations run on GPU </a:t>
            </a:r>
          </a:p>
          <a:p>
            <a:pPr marL="285750" indent="-285750">
              <a:buFontTx/>
              <a:buChar char="-"/>
            </a:pPr>
            <a:r>
              <a:rPr lang="en-US" sz="1800" dirty="0"/>
              <a:t>Highly </a:t>
            </a:r>
            <a:r>
              <a:rPr lang="en-US" sz="1800" dirty="0" err="1"/>
              <a:t>parallelised</a:t>
            </a:r>
            <a:endParaRPr lang="en-US" sz="1800" dirty="0"/>
          </a:p>
          <a:p>
            <a:pPr marL="285750" indent="-285750">
              <a:buFontTx/>
              <a:buChar char="-"/>
            </a:pPr>
            <a:r>
              <a:rPr lang="en-US" sz="1800" dirty="0"/>
              <a:t>Reduce batches</a:t>
            </a:r>
          </a:p>
          <a:p>
            <a:pPr marL="285750" indent="-285750">
              <a:buFontTx/>
              <a:buChar char="-"/>
            </a:pPr>
            <a:r>
              <a:rPr lang="en-US" sz="1800" dirty="0"/>
              <a:t>No layout invalidation</a:t>
            </a:r>
          </a:p>
          <a:p>
            <a:pPr marL="285750" indent="-285750">
              <a:buFontTx/>
              <a:buChar char="-"/>
            </a:pPr>
            <a:r>
              <a:rPr lang="en-US" sz="1800" dirty="0"/>
              <a:t>Reduce number of widgets used</a:t>
            </a:r>
          </a:p>
          <a:p>
            <a:pPr marL="285750" indent="-285750">
              <a:buFontTx/>
              <a:buChar char="-"/>
            </a:pPr>
            <a:endParaRPr lang="en-US" sz="1800" dirty="0"/>
          </a:p>
          <a:p>
            <a:pPr marL="285750" indent="-285750">
              <a:buFontTx/>
              <a:buChar char="-"/>
            </a:pPr>
            <a:r>
              <a:rPr lang="en-US" sz="1800" dirty="0">
                <a:hlinkClick r:id="rId2"/>
              </a:rPr>
              <a:t>Unreal Fest 2024</a:t>
            </a:r>
            <a:endParaRPr lang="en-US" sz="1800" dirty="0"/>
          </a:p>
          <a:p>
            <a:pPr marL="114300">
              <a:buSzPts val="1800"/>
            </a:pPr>
            <a:endParaRPr lang="en-US" sz="1800" dirty="0"/>
          </a:p>
          <a:p>
            <a:pPr marL="114300">
              <a:buSzPts val="1800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28091736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433</Words>
  <Application>Microsoft Macintosh PowerPoint</Application>
  <PresentationFormat>On-screen Show (16:9)</PresentationFormat>
  <Paragraphs>96</Paragraphs>
  <Slides>17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Simple Dark</vt:lpstr>
      <vt:lpstr>UI Part 1</vt:lpstr>
      <vt:lpstr>Content of this lecture</vt:lpstr>
      <vt:lpstr>UMG &amp; Designer</vt:lpstr>
      <vt:lpstr>Focus</vt:lpstr>
      <vt:lpstr>CommonUI  – Activatable Widgets</vt:lpstr>
      <vt:lpstr>Menus </vt:lpstr>
      <vt:lpstr>Layers</vt:lpstr>
      <vt:lpstr>Input Routing</vt:lpstr>
      <vt:lpstr>UI Management</vt:lpstr>
      <vt:lpstr>Let’s create simple menu</vt:lpstr>
      <vt:lpstr>Next Time</vt:lpstr>
      <vt:lpstr>Additional Resources</vt:lpstr>
      <vt:lpstr>UI Part 2</vt:lpstr>
      <vt:lpstr>Content of this lecture</vt:lpstr>
      <vt:lpstr>Dos and Donts</vt:lpstr>
      <vt:lpstr>ListView</vt:lpstr>
      <vt:lpstr>Materials and Performance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Daniel Janak</cp:lastModifiedBy>
  <cp:revision>11</cp:revision>
  <dcterms:modified xsi:type="dcterms:W3CDTF">2026-01-05T23:04:38Z</dcterms:modified>
</cp:coreProperties>
</file>