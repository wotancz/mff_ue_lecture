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7b3fe96102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27b3fe96102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7b3fe96102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7b3fe96102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a5809dcb5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a5809dcb5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a5809dcb5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a5809dcb5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a5809dcb5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a5809dcb5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a5809dcb5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a5809dcb5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a5809dcb5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a5809dcb5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d54e983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d54e983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d54e983a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d54e983a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a5809dcb5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a5809dcb5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1d54e983a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1d54e983a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1d54e983a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1d54e983a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1d54e983a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1d54e983a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a5809dcb5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a5809dcb5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0" y="25"/>
            <a:ext cx="9144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body"/>
          </p:nvPr>
        </p:nvSpPr>
        <p:spPr>
          <a:xfrm>
            <a:off x="5069250" y="724200"/>
            <a:ext cx="37074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40" name="Google Shape;40;p9"/>
          <p:cNvPicPr preferRelativeResize="0"/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5069250" y="724200"/>
            <a:ext cx="3695101" cy="369510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9"/>
          <p:cNvSpPr txBox="1"/>
          <p:nvPr>
            <p:ph idx="2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youtube.com/watch?v=WaHlhkmVDoI" TargetMode="External"/><Relationship Id="rId4" Type="http://schemas.openxmlformats.org/officeDocument/2006/relationships/hyperlink" Target="https://docs.unrealengine.com/5.2/en-US/optimization-guidelines-for-umg-in-unreal-engine/" TargetMode="External"/><Relationship Id="rId5" Type="http://schemas.openxmlformats.org/officeDocument/2006/relationships/hyperlink" Target="https://docs.unrealengine.com/5.0/en-US/overview-of-advanced-multiplatform-user-interfaces-with-common-ui-for-unreal-engine/" TargetMode="External"/><Relationship Id="rId6" Type="http://schemas.openxmlformats.org/officeDocument/2006/relationships/hyperlink" Target="https://www.youtube.com/watch?v=TTB5y-03Sn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Part I</a:t>
            </a:r>
            <a:endParaRPr/>
          </a:p>
        </p:txBody>
      </p:sp>
      <p:sp>
        <p:nvSpPr>
          <p:cNvPr id="57" name="Google Shape;57;p13"/>
          <p:cNvSpPr txBox="1"/>
          <p:nvPr>
            <p:ph idx="2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 Janák</a:t>
            </a:r>
            <a:endParaRPr/>
          </a:p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5069250" y="724200"/>
            <a:ext cx="37074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of this lecture</a:t>
            </a:r>
            <a:endParaRPr/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1368950"/>
            <a:ext cx="4260300" cy="3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UMG</a:t>
            </a:r>
            <a:r>
              <a:rPr lang="en" sz="1800"/>
              <a:t> &amp; </a:t>
            </a:r>
            <a:r>
              <a:rPr lang="en" sz="1800"/>
              <a:t>Designer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CommonUI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Views / Activatable Widgets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Layers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UI Management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UMG &amp; Designer</a:t>
            </a:r>
            <a:endParaRPr/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1187825"/>
            <a:ext cx="8686500" cy="9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Unreal Motion Graphics - Default UI system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Widget vs User Widget</a:t>
            </a:r>
            <a:endParaRPr sz="1800"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75" y="2196400"/>
            <a:ext cx="2452099" cy="2707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3812" y="2196400"/>
            <a:ext cx="2756374" cy="263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0199" y="2180400"/>
            <a:ext cx="2452100" cy="27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Views</a:t>
            </a:r>
            <a:endParaRPr/>
          </a:p>
        </p:txBody>
      </p:sp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1368950"/>
            <a:ext cx="4651800" cy="3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Partition to standalone Views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Unique Identification of each View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View Types for shared behavior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Event Based, no direct access to other Views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Just because two UIs share a common part doesn’t mean they need to be clumped to one View</a:t>
            </a:r>
            <a:endParaRPr sz="1800"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1674" y="446051"/>
            <a:ext cx="3540626" cy="4251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Activatable Widgets</a:t>
            </a:r>
            <a:endParaRPr/>
          </a:p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1368950"/>
            <a:ext cx="4082100" cy="3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Need to be able to react to different lifetime events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Register visibility events in Construct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Register visual change events in OnActivated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Clean up your delegates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Should include both C++ functions and Blueprint delegates</a:t>
            </a:r>
            <a:endParaRPr sz="1800"/>
          </a:p>
        </p:txBody>
      </p:sp>
      <p:grpSp>
        <p:nvGrpSpPr>
          <p:cNvPr id="87" name="Google Shape;87;p17"/>
          <p:cNvGrpSpPr/>
          <p:nvPr/>
        </p:nvGrpSpPr>
        <p:grpSpPr>
          <a:xfrm>
            <a:off x="4486775" y="765300"/>
            <a:ext cx="4345525" cy="3612900"/>
            <a:chOff x="4486775" y="1278350"/>
            <a:chExt cx="4345525" cy="3612900"/>
          </a:xfrm>
        </p:grpSpPr>
        <p:grpSp>
          <p:nvGrpSpPr>
            <p:cNvPr id="88" name="Google Shape;88;p17"/>
            <p:cNvGrpSpPr/>
            <p:nvPr/>
          </p:nvGrpSpPr>
          <p:grpSpPr>
            <a:xfrm>
              <a:off x="4486775" y="1278350"/>
              <a:ext cx="3868500" cy="3612900"/>
              <a:chOff x="4486775" y="1278350"/>
              <a:chExt cx="3868500" cy="3612900"/>
            </a:xfrm>
          </p:grpSpPr>
          <p:sp>
            <p:nvSpPr>
              <p:cNvPr id="89" name="Google Shape;89;p17"/>
              <p:cNvSpPr/>
              <p:nvPr/>
            </p:nvSpPr>
            <p:spPr>
              <a:xfrm>
                <a:off x="4486775" y="1278350"/>
                <a:ext cx="3868500" cy="5097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Instantiated (game start)</a:t>
                </a:r>
                <a:endParaRPr sz="1200">
                  <a:solidFill>
                    <a:schemeClr val="dk1"/>
                  </a:solidFill>
                </a:endParaRPr>
              </a:p>
            </p:txBody>
          </p:sp>
          <p:sp>
            <p:nvSpPr>
              <p:cNvPr id="90" name="Google Shape;90;p17"/>
              <p:cNvSpPr/>
              <p:nvPr/>
            </p:nvSpPr>
            <p:spPr>
              <a:xfrm>
                <a:off x="4486775" y="2316900"/>
                <a:ext cx="3868500" cy="5097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Opened</a:t>
                </a:r>
                <a:endParaRPr sz="1200">
                  <a:solidFill>
                    <a:schemeClr val="dk1"/>
                  </a:solidFill>
                </a:endParaRPr>
              </a:p>
            </p:txBody>
          </p:sp>
          <p:sp>
            <p:nvSpPr>
              <p:cNvPr id="91" name="Google Shape;91;p17"/>
              <p:cNvSpPr/>
              <p:nvPr/>
            </p:nvSpPr>
            <p:spPr>
              <a:xfrm>
                <a:off x="4486775" y="2829950"/>
                <a:ext cx="3868500" cy="5097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Optional</a:t>
                </a:r>
                <a:endParaRPr sz="1200">
                  <a:solidFill>
                    <a:schemeClr val="dk1"/>
                  </a:solidFill>
                </a:endParaRPr>
              </a:p>
            </p:txBody>
          </p:sp>
          <p:sp>
            <p:nvSpPr>
              <p:cNvPr id="92" name="Google Shape;92;p17"/>
              <p:cNvSpPr/>
              <p:nvPr/>
            </p:nvSpPr>
            <p:spPr>
              <a:xfrm>
                <a:off x="4486775" y="3343000"/>
                <a:ext cx="3868500" cy="5097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Closed</a:t>
                </a:r>
                <a:endParaRPr sz="1200">
                  <a:solidFill>
                    <a:schemeClr val="dk1"/>
                  </a:solidFill>
                </a:endParaRPr>
              </a:p>
            </p:txBody>
          </p:sp>
          <p:sp>
            <p:nvSpPr>
              <p:cNvPr id="93" name="Google Shape;93;p17"/>
              <p:cNvSpPr/>
              <p:nvPr/>
            </p:nvSpPr>
            <p:spPr>
              <a:xfrm>
                <a:off x="4486775" y="4381550"/>
                <a:ext cx="3868500" cy="5097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Destroyed</a:t>
                </a:r>
                <a:endParaRPr sz="120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94" name="Google Shape;94;p17"/>
            <p:cNvGrpSpPr/>
            <p:nvPr/>
          </p:nvGrpSpPr>
          <p:grpSpPr>
            <a:xfrm>
              <a:off x="6363850" y="1368950"/>
              <a:ext cx="2468450" cy="3431700"/>
              <a:chOff x="5726200" y="1368950"/>
              <a:chExt cx="2468450" cy="3431700"/>
            </a:xfrm>
          </p:grpSpPr>
          <p:sp>
            <p:nvSpPr>
              <p:cNvPr id="95" name="Google Shape;95;p17"/>
              <p:cNvSpPr/>
              <p:nvPr/>
            </p:nvSpPr>
            <p:spPr>
              <a:xfrm>
                <a:off x="5726200" y="1368950"/>
                <a:ext cx="1916100" cy="336300"/>
              </a:xfrm>
              <a:prstGeom prst="flowChartAlternateProcess">
                <a:avLst/>
              </a:prstGeom>
              <a:solidFill>
                <a:srgbClr val="6D9E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1"/>
                    </a:solidFill>
                  </a:rPr>
                  <a:t>Construct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  <p:sp>
            <p:nvSpPr>
              <p:cNvPr id="96" name="Google Shape;96;p17"/>
              <p:cNvSpPr/>
              <p:nvPr/>
            </p:nvSpPr>
            <p:spPr>
              <a:xfrm>
                <a:off x="5726200" y="2403600"/>
                <a:ext cx="1916100" cy="336300"/>
              </a:xfrm>
              <a:prstGeom prst="flowChartAlternateProcess">
                <a:avLst/>
              </a:prstGeom>
              <a:solidFill>
                <a:srgbClr val="6D9E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1"/>
                    </a:solidFill>
                  </a:rPr>
                  <a:t>On Activated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  <p:sp>
            <p:nvSpPr>
              <p:cNvPr id="97" name="Google Shape;97;p17"/>
              <p:cNvSpPr/>
              <p:nvPr/>
            </p:nvSpPr>
            <p:spPr>
              <a:xfrm>
                <a:off x="5726200" y="2915513"/>
                <a:ext cx="1916100" cy="336300"/>
              </a:xfrm>
              <a:prstGeom prst="flowChartAlternateProcess">
                <a:avLst/>
              </a:prstGeom>
              <a:solidFill>
                <a:srgbClr val="C9DA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4D5156"/>
                    </a:solidFill>
                  </a:rPr>
                  <a:t>Bind Input</a:t>
                </a:r>
                <a:endParaRPr b="1">
                  <a:solidFill>
                    <a:srgbClr val="4D5156"/>
                  </a:solidFill>
                </a:endParaRPr>
              </a:p>
            </p:txBody>
          </p:sp>
          <p:sp>
            <p:nvSpPr>
              <p:cNvPr id="98" name="Google Shape;98;p17"/>
              <p:cNvSpPr/>
              <p:nvPr/>
            </p:nvSpPr>
            <p:spPr>
              <a:xfrm>
                <a:off x="5726200" y="3427450"/>
                <a:ext cx="1916100" cy="336300"/>
              </a:xfrm>
              <a:prstGeom prst="flowChartAlternateProcess">
                <a:avLst/>
              </a:prstGeom>
              <a:solidFill>
                <a:srgbClr val="6D9E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1"/>
                    </a:solidFill>
                  </a:rPr>
                  <a:t>On Deactivated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  <p:sp>
            <p:nvSpPr>
              <p:cNvPr id="99" name="Google Shape;99;p17"/>
              <p:cNvSpPr/>
              <p:nvPr/>
            </p:nvSpPr>
            <p:spPr>
              <a:xfrm>
                <a:off x="5726200" y="4464350"/>
                <a:ext cx="1916100" cy="336300"/>
              </a:xfrm>
              <a:prstGeom prst="flowChartAlternateProcess">
                <a:avLst/>
              </a:prstGeom>
              <a:solidFill>
                <a:srgbClr val="6D9E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1"/>
                    </a:solidFill>
                  </a:rPr>
                  <a:t>Destruct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100" name="Google Shape;100;p17"/>
              <p:cNvCxnSpPr>
                <a:stCxn id="95" idx="2"/>
                <a:endCxn id="96" idx="0"/>
              </p:cNvCxnSpPr>
              <p:nvPr/>
            </p:nvCxnSpPr>
            <p:spPr>
              <a:xfrm>
                <a:off x="6684250" y="1705250"/>
                <a:ext cx="0" cy="698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01" name="Google Shape;101;p17"/>
              <p:cNvCxnSpPr>
                <a:stCxn id="96" idx="2"/>
                <a:endCxn id="97" idx="0"/>
              </p:cNvCxnSpPr>
              <p:nvPr/>
            </p:nvCxnSpPr>
            <p:spPr>
              <a:xfrm>
                <a:off x="6684250" y="2739900"/>
                <a:ext cx="0" cy="175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02" name="Google Shape;102;p17"/>
              <p:cNvCxnSpPr>
                <a:stCxn id="97" idx="2"/>
                <a:endCxn id="98" idx="0"/>
              </p:cNvCxnSpPr>
              <p:nvPr/>
            </p:nvCxnSpPr>
            <p:spPr>
              <a:xfrm>
                <a:off x="6684250" y="3251813"/>
                <a:ext cx="0" cy="175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03" name="Google Shape;103;p17"/>
              <p:cNvCxnSpPr>
                <a:stCxn id="98" idx="2"/>
                <a:endCxn id="99" idx="0"/>
              </p:cNvCxnSpPr>
              <p:nvPr/>
            </p:nvCxnSpPr>
            <p:spPr>
              <a:xfrm>
                <a:off x="6684250" y="3763750"/>
                <a:ext cx="0" cy="700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04" name="Google Shape;104;p17"/>
              <p:cNvCxnSpPr>
                <a:stCxn id="98" idx="2"/>
                <a:endCxn id="96" idx="0"/>
              </p:cNvCxnSpPr>
              <p:nvPr/>
            </p:nvCxnSpPr>
            <p:spPr>
              <a:xfrm rot="-5400000">
                <a:off x="6004450" y="3083350"/>
                <a:ext cx="1360200" cy="600"/>
              </a:xfrm>
              <a:prstGeom prst="bentConnector5">
                <a:avLst>
                  <a:gd fmla="val -24836" name="adj1"/>
                  <a:gd fmla="val 251733333" name="adj2"/>
                  <a:gd fmla="val 129031" name="adj3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" name="Google Shape;105;p17"/>
              <p:cNvCxnSpPr/>
              <p:nvPr/>
            </p:nvCxnSpPr>
            <p:spPr>
              <a:xfrm rot="10800000">
                <a:off x="8194650" y="3010700"/>
                <a:ext cx="0" cy="1082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Layers</a:t>
            </a:r>
            <a:endParaRPr/>
          </a:p>
        </p:txBody>
      </p:sp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1368950"/>
            <a:ext cx="4082100" cy="3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Grouping of Views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Rendering order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Visibility manipulations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Stacks vs Queues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99% predefined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of Layer Widget</a:t>
            </a:r>
            <a:endParaRPr sz="1800"/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2275" y="749713"/>
            <a:ext cx="3644074" cy="364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Management</a:t>
            </a:r>
            <a:endParaRPr/>
          </a:p>
        </p:txBody>
      </p:sp>
      <p:sp>
        <p:nvSpPr>
          <p:cNvPr id="118" name="Google Shape;118;p19"/>
          <p:cNvSpPr txBox="1"/>
          <p:nvPr>
            <p:ph type="title"/>
          </p:nvPr>
        </p:nvSpPr>
        <p:spPr>
          <a:xfrm>
            <a:off x="311700" y="1368950"/>
            <a:ext cx="8520600" cy="3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Automates processes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Contains current state of UI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Pushes Views on screen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Only manager can manipulate Views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Should be “black box” feature, doesn’t need to bother you when coding Views themselves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Can be configurable for different levels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Can be implemented either through Subsystem or HUD Actor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Part II</a:t>
            </a:r>
            <a:endParaRPr/>
          </a:p>
        </p:txBody>
      </p:sp>
      <p:sp>
        <p:nvSpPr>
          <p:cNvPr id="124" name="Google Shape;124;p20"/>
          <p:cNvSpPr txBox="1"/>
          <p:nvPr>
            <p:ph idx="2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 Janák</a:t>
            </a:r>
            <a:endParaRPr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5069250" y="724200"/>
            <a:ext cx="37074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of this lecture</a:t>
            </a:r>
            <a:endParaRPr/>
          </a:p>
        </p:txBody>
      </p:sp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1368950"/>
            <a:ext cx="4260300" cy="3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Focus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Layouts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Component Widgets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UI Materials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Input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</a:t>
            </a:r>
            <a:endParaRPr/>
          </a:p>
        </p:txBody>
      </p:sp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1368950"/>
            <a:ext cx="3431100" cy="3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Core mechanism behind UI navigation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Only one focused widget at a time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Focus vs Hover</a:t>
            </a:r>
            <a:endParaRPr sz="1800"/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8900" y="1140350"/>
            <a:ext cx="4863400" cy="286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Layouts and Components</a:t>
            </a:r>
            <a:endParaRPr/>
          </a:p>
        </p:txBody>
      </p:sp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1368950"/>
            <a:ext cx="3431100" cy="3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Basic layouting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Performance hits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Reusable Widget Components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Logical Widget Components</a:t>
            </a:r>
            <a:endParaRPr sz="1800"/>
          </a:p>
        </p:txBody>
      </p:sp>
      <p:pic>
        <p:nvPicPr>
          <p:cNvPr id="145" name="Google Shape;1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0675" y="982450"/>
            <a:ext cx="4441626" cy="31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Materials</a:t>
            </a:r>
            <a:endParaRPr/>
          </a:p>
        </p:txBody>
      </p:sp>
      <p:sp>
        <p:nvSpPr>
          <p:cNvPr id="151" name="Google Shape;151;p24"/>
          <p:cNvSpPr txBox="1"/>
          <p:nvPr>
            <p:ph type="title"/>
          </p:nvPr>
        </p:nvSpPr>
        <p:spPr>
          <a:xfrm>
            <a:off x="311700" y="1368950"/>
            <a:ext cx="3431100" cy="3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Why we use materials in UI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Material Lab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Basic Example</a:t>
            </a:r>
            <a:endParaRPr sz="1800"/>
          </a:p>
        </p:txBody>
      </p:sp>
      <p:pic>
        <p:nvPicPr>
          <p:cNvPr id="152" name="Google Shape;1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2800" y="1128663"/>
            <a:ext cx="5089499" cy="2886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</a:t>
            </a:r>
            <a:endParaRPr/>
          </a:p>
        </p:txBody>
      </p:sp>
      <p:sp>
        <p:nvSpPr>
          <p:cNvPr id="158" name="Google Shape;158;p25"/>
          <p:cNvSpPr txBox="1"/>
          <p:nvPr>
            <p:ph type="title"/>
          </p:nvPr>
        </p:nvSpPr>
        <p:spPr>
          <a:xfrm>
            <a:off x="311700" y="1368950"/>
            <a:ext cx="3431100" cy="3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Enhanced Input System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Input Routing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Registering Input</a:t>
            </a:r>
            <a:endParaRPr sz="1800"/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2338" y="855900"/>
            <a:ext cx="4889962" cy="34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Resources</a:t>
            </a:r>
            <a:endParaRPr/>
          </a:p>
        </p:txBody>
      </p:sp>
      <p:sp>
        <p:nvSpPr>
          <p:cNvPr id="165" name="Google Shape;165;p26"/>
          <p:cNvSpPr txBox="1"/>
          <p:nvPr>
            <p:ph type="title"/>
          </p:nvPr>
        </p:nvSpPr>
        <p:spPr>
          <a:xfrm>
            <a:off x="311700" y="1368950"/>
            <a:ext cx="4082100" cy="3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UI Material Use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Basic Optimizations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5"/>
              </a:rPr>
              <a:t>CommonUI Overview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6"/>
              </a:rPr>
              <a:t>CommonUI Tutorial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